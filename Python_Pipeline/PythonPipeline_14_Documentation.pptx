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8" r:id="rId3"/>
    <p:sldId id="323" r:id="rId4"/>
    <p:sldId id="274" r:id="rId5"/>
    <p:sldId id="273" r:id="rId6"/>
    <p:sldId id="326" r:id="rId7"/>
    <p:sldId id="325" r:id="rId8"/>
    <p:sldId id="327" r:id="rId9"/>
    <p:sldId id="328" r:id="rId10"/>
    <p:sldId id="329" r:id="rId11"/>
    <p:sldId id="330" r:id="rId12"/>
    <p:sldId id="333" r:id="rId13"/>
    <p:sldId id="331" r:id="rId14"/>
    <p:sldId id="33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29" autoAdjust="0"/>
    <p:restoredTop sz="63878" autoAdjust="0"/>
  </p:normalViewPr>
  <p:slideViewPr>
    <p:cSldViewPr snapToGrid="0">
      <p:cViewPr varScale="1">
        <p:scale>
          <a:sx n="33" d="100"/>
          <a:sy n="33" d="100"/>
        </p:scale>
        <p:origin x="68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135E18-C188-4B80-9445-659122C614DD}" type="datetimeFigureOut">
              <a:rPr lang="en-US" smtClean="0"/>
              <a:t>2/6/2020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26EDF5-73A9-4F30-B1A6-8B6AF30FC97A}" type="slidenum">
              <a:rPr lang="en-US" smtClean="0"/>
              <a:t>‹#›</a:t>
            </a:fld>
            <a:endParaRPr lang="en-US"/>
          </a:p>
        </p:txBody>
      </p:sp>
    </p:spTree>
    <p:extLst>
      <p:ext uri="{BB962C8B-B14F-4D97-AF65-F5344CB8AC3E}">
        <p14:creationId xmlns:p14="http://schemas.microsoft.com/office/powerpoint/2010/main" val="1579761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Today I am going to introduce what is inheritance in Python.</a:t>
            </a:r>
          </a:p>
        </p:txBody>
      </p:sp>
      <p:sp>
        <p:nvSpPr>
          <p:cNvPr id="4" name="Slide Number Placeholder 3"/>
          <p:cNvSpPr>
            <a:spLocks noGrp="1"/>
          </p:cNvSpPr>
          <p:nvPr>
            <p:ph type="sldNum" sz="quarter" idx="5"/>
          </p:nvPr>
        </p:nvSpPr>
        <p:spPr/>
        <p:txBody>
          <a:bodyPr/>
          <a:lstStyle/>
          <a:p>
            <a:fld id="{E526EDF5-73A9-4F30-B1A6-8B6AF30FC97A}" type="slidenum">
              <a:rPr lang="en-US" smtClean="0"/>
              <a:t>1</a:t>
            </a:fld>
            <a:endParaRPr lang="en-US"/>
          </a:p>
        </p:txBody>
      </p:sp>
    </p:spTree>
    <p:extLst>
      <p:ext uri="{BB962C8B-B14F-4D97-AF65-F5344CB8AC3E}">
        <p14:creationId xmlns:p14="http://schemas.microsoft.com/office/powerpoint/2010/main" val="591540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26EDF5-73A9-4F30-B1A6-8B6AF30FC97A}" type="slidenum">
              <a:rPr lang="en-US" smtClean="0"/>
              <a:t>2</a:t>
            </a:fld>
            <a:endParaRPr lang="en-US"/>
          </a:p>
        </p:txBody>
      </p:sp>
    </p:spTree>
    <p:extLst>
      <p:ext uri="{BB962C8B-B14F-4D97-AF65-F5344CB8AC3E}">
        <p14:creationId xmlns:p14="http://schemas.microsoft.com/office/powerpoint/2010/main" val="3760723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26EDF5-73A9-4F30-B1A6-8B6AF30FC97A}" type="slidenum">
              <a:rPr lang="en-US" smtClean="0"/>
              <a:t>3</a:t>
            </a:fld>
            <a:endParaRPr lang="en-US"/>
          </a:p>
        </p:txBody>
      </p:sp>
    </p:spTree>
    <p:extLst>
      <p:ext uri="{BB962C8B-B14F-4D97-AF65-F5344CB8AC3E}">
        <p14:creationId xmlns:p14="http://schemas.microsoft.com/office/powerpoint/2010/main" val="1752553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26EDF5-73A9-4F30-B1A6-8B6AF30FC97A}" type="slidenum">
              <a:rPr lang="en-US" smtClean="0"/>
              <a:t>4</a:t>
            </a:fld>
            <a:endParaRPr lang="en-US"/>
          </a:p>
        </p:txBody>
      </p:sp>
    </p:spTree>
    <p:extLst>
      <p:ext uri="{BB962C8B-B14F-4D97-AF65-F5344CB8AC3E}">
        <p14:creationId xmlns:p14="http://schemas.microsoft.com/office/powerpoint/2010/main" val="6070131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Here, I am going to introduce a free and open-source version control system –git.</a:t>
            </a:r>
          </a:p>
        </p:txBody>
      </p:sp>
      <p:sp>
        <p:nvSpPr>
          <p:cNvPr id="4" name="Slide Number Placeholder 3"/>
          <p:cNvSpPr>
            <a:spLocks noGrp="1"/>
          </p:cNvSpPr>
          <p:nvPr>
            <p:ph type="sldNum" sz="quarter" idx="5"/>
          </p:nvPr>
        </p:nvSpPr>
        <p:spPr/>
        <p:txBody>
          <a:bodyPr/>
          <a:lstStyle/>
          <a:p>
            <a:fld id="{E526EDF5-73A9-4F30-B1A6-8B6AF30FC97A}" type="slidenum">
              <a:rPr lang="en-US" smtClean="0"/>
              <a:t>5</a:t>
            </a:fld>
            <a:endParaRPr lang="en-US"/>
          </a:p>
        </p:txBody>
      </p:sp>
    </p:spTree>
    <p:extLst>
      <p:ext uri="{BB962C8B-B14F-4D97-AF65-F5344CB8AC3E}">
        <p14:creationId xmlns:p14="http://schemas.microsoft.com/office/powerpoint/2010/main" val="5545605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am going to introduce how to manage source code using Git. </a:t>
            </a:r>
          </a:p>
          <a:p>
            <a:r>
              <a:rPr lang="en-US" sz="1200" dirty="0"/>
              <a:t>Git tracks any changes to the source code.</a:t>
            </a:r>
          </a:p>
          <a:p>
            <a:r>
              <a:rPr lang="en-US" sz="1200" dirty="0"/>
              <a:t>Git allows to go back to any of old versions.</a:t>
            </a:r>
          </a:p>
          <a:p>
            <a:r>
              <a:rPr lang="en-US" sz="1200" dirty="0"/>
              <a:t>Git prevents loss of work or conflicts when multiple contributors work together.</a:t>
            </a:r>
          </a:p>
        </p:txBody>
      </p:sp>
      <p:sp>
        <p:nvSpPr>
          <p:cNvPr id="4" name="Slide Number Placeholder 3"/>
          <p:cNvSpPr>
            <a:spLocks noGrp="1"/>
          </p:cNvSpPr>
          <p:nvPr>
            <p:ph type="sldNum" sz="quarter" idx="5"/>
          </p:nvPr>
        </p:nvSpPr>
        <p:spPr/>
        <p:txBody>
          <a:bodyPr/>
          <a:lstStyle/>
          <a:p>
            <a:fld id="{E526EDF5-73A9-4F30-B1A6-8B6AF30FC97A}" type="slidenum">
              <a:rPr lang="en-US" smtClean="0"/>
              <a:t>6</a:t>
            </a:fld>
            <a:endParaRPr lang="en-US"/>
          </a:p>
        </p:txBody>
      </p:sp>
    </p:spTree>
    <p:extLst>
      <p:ext uri="{BB962C8B-B14F-4D97-AF65-F5344CB8AC3E}">
        <p14:creationId xmlns:p14="http://schemas.microsoft.com/office/powerpoint/2010/main" val="35907781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suppose a scenario: a developer is working on a project at local computer using git, and maintain a remote copy at </a:t>
            </a:r>
            <a:r>
              <a:rPr lang="en-US" dirty="0" err="1"/>
              <a:t>github</a:t>
            </a:r>
            <a:r>
              <a:rPr lang="en-US" dirty="0"/>
              <a:t>, which could be shared with other developers.  To fulfill this work, The developer has to create a local git repository using the command git </a:t>
            </a:r>
            <a:r>
              <a:rPr lang="en-US" dirty="0" err="1"/>
              <a:t>init</a:t>
            </a:r>
            <a:r>
              <a:rPr lang="en-US" dirty="0"/>
              <a:t>, add the changes of his code work to the staging area using the command git add,  and then submit the changes to the local repository using the command git commit.  The developer spends most of his time at local project. It is ok for him to push local project to the </a:t>
            </a:r>
            <a:r>
              <a:rPr lang="en-US" dirty="0" err="1"/>
              <a:t>github</a:t>
            </a:r>
            <a:r>
              <a:rPr lang="en-US" dirty="0"/>
              <a:t>.</a:t>
            </a:r>
          </a:p>
        </p:txBody>
      </p:sp>
      <p:sp>
        <p:nvSpPr>
          <p:cNvPr id="4" name="Slide Number Placeholder 3"/>
          <p:cNvSpPr>
            <a:spLocks noGrp="1"/>
          </p:cNvSpPr>
          <p:nvPr>
            <p:ph type="sldNum" sz="quarter" idx="5"/>
          </p:nvPr>
        </p:nvSpPr>
        <p:spPr/>
        <p:txBody>
          <a:bodyPr/>
          <a:lstStyle/>
          <a:p>
            <a:fld id="{E526EDF5-73A9-4F30-B1A6-8B6AF30FC97A}" type="slidenum">
              <a:rPr lang="en-US" smtClean="0"/>
              <a:t>7</a:t>
            </a:fld>
            <a:endParaRPr lang="en-US"/>
          </a:p>
        </p:txBody>
      </p:sp>
    </p:spTree>
    <p:extLst>
      <p:ext uri="{BB962C8B-B14F-4D97-AF65-F5344CB8AC3E}">
        <p14:creationId xmlns:p14="http://schemas.microsoft.com/office/powerpoint/2010/main" val="8567192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should be done for creating a local git repository.  First, initiate a local </a:t>
            </a:r>
            <a:r>
              <a:rPr lang="en-US" dirty="0" err="1"/>
              <a:t>reposity</a:t>
            </a:r>
            <a:r>
              <a:rPr lang="en-US" dirty="0"/>
              <a:t> using git </a:t>
            </a:r>
            <a:r>
              <a:rPr lang="en-US" dirty="0" err="1"/>
              <a:t>init.</a:t>
            </a:r>
            <a:r>
              <a:rPr lang="en-US" dirty="0"/>
              <a:t>  A hidden directory known as .git will be created, which tracks all versions of the project.  Then, add user name and user email, which will be involved in the committed message. Finally, create a file named as .</a:t>
            </a:r>
            <a:r>
              <a:rPr lang="en-US" dirty="0" err="1"/>
              <a:t>gitignore</a:t>
            </a:r>
            <a:r>
              <a:rPr lang="en-US" dirty="0"/>
              <a:t>. This file tells git which files or directory is out of tracking.</a:t>
            </a:r>
          </a:p>
        </p:txBody>
      </p:sp>
      <p:sp>
        <p:nvSpPr>
          <p:cNvPr id="4" name="Slide Number Placeholder 3"/>
          <p:cNvSpPr>
            <a:spLocks noGrp="1"/>
          </p:cNvSpPr>
          <p:nvPr>
            <p:ph type="sldNum" sz="quarter" idx="5"/>
          </p:nvPr>
        </p:nvSpPr>
        <p:spPr/>
        <p:txBody>
          <a:bodyPr/>
          <a:lstStyle/>
          <a:p>
            <a:fld id="{E526EDF5-73A9-4F30-B1A6-8B6AF30FC97A}" type="slidenum">
              <a:rPr lang="en-US" smtClean="0"/>
              <a:t>8</a:t>
            </a:fld>
            <a:endParaRPr lang="en-US"/>
          </a:p>
        </p:txBody>
      </p:sp>
    </p:spTree>
    <p:extLst>
      <p:ext uri="{BB962C8B-B14F-4D97-AF65-F5344CB8AC3E}">
        <p14:creationId xmlns:p14="http://schemas.microsoft.com/office/powerpoint/2010/main" val="20990086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process, we often employ the git commands: git add, git status, git commit.  Git add add changes to the staging area, git status displays the status of the working directory and staging area. Git commit saves changes to the local repository. It is up to a developer to decide where and when a tracking point could be set.</a:t>
            </a:r>
          </a:p>
        </p:txBody>
      </p:sp>
      <p:sp>
        <p:nvSpPr>
          <p:cNvPr id="4" name="Slide Number Placeholder 3"/>
          <p:cNvSpPr>
            <a:spLocks noGrp="1"/>
          </p:cNvSpPr>
          <p:nvPr>
            <p:ph type="sldNum" sz="quarter" idx="5"/>
          </p:nvPr>
        </p:nvSpPr>
        <p:spPr/>
        <p:txBody>
          <a:bodyPr/>
          <a:lstStyle/>
          <a:p>
            <a:fld id="{E526EDF5-73A9-4F30-B1A6-8B6AF30FC97A}" type="slidenum">
              <a:rPr lang="en-US" smtClean="0"/>
              <a:t>9</a:t>
            </a:fld>
            <a:endParaRPr lang="en-US"/>
          </a:p>
        </p:txBody>
      </p:sp>
    </p:spTree>
    <p:extLst>
      <p:ext uri="{BB962C8B-B14F-4D97-AF65-F5344CB8AC3E}">
        <p14:creationId xmlns:p14="http://schemas.microsoft.com/office/powerpoint/2010/main" val="733644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command git log displays all changes saved in the local repository. There are three changes saved.  One user was created, and two parts of code were changed.</a:t>
            </a:r>
          </a:p>
        </p:txBody>
      </p:sp>
      <p:sp>
        <p:nvSpPr>
          <p:cNvPr id="4" name="Slide Number Placeholder 3"/>
          <p:cNvSpPr>
            <a:spLocks noGrp="1"/>
          </p:cNvSpPr>
          <p:nvPr>
            <p:ph type="sldNum" sz="quarter" idx="5"/>
          </p:nvPr>
        </p:nvSpPr>
        <p:spPr/>
        <p:txBody>
          <a:bodyPr/>
          <a:lstStyle/>
          <a:p>
            <a:fld id="{E526EDF5-73A9-4F30-B1A6-8B6AF30FC97A}" type="slidenum">
              <a:rPr lang="en-US" smtClean="0"/>
              <a:t>10</a:t>
            </a:fld>
            <a:endParaRPr lang="en-US"/>
          </a:p>
        </p:txBody>
      </p:sp>
    </p:spTree>
    <p:extLst>
      <p:ext uri="{BB962C8B-B14F-4D97-AF65-F5344CB8AC3E}">
        <p14:creationId xmlns:p14="http://schemas.microsoft.com/office/powerpoint/2010/main" val="37759493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command git reset used for setting back an old version. Showed in the red box, the option –hard followed by index code, indicating which one of the points the project should go back to.</a:t>
            </a:r>
          </a:p>
        </p:txBody>
      </p:sp>
      <p:sp>
        <p:nvSpPr>
          <p:cNvPr id="4" name="Slide Number Placeholder 3"/>
          <p:cNvSpPr>
            <a:spLocks noGrp="1"/>
          </p:cNvSpPr>
          <p:nvPr>
            <p:ph type="sldNum" sz="quarter" idx="5"/>
          </p:nvPr>
        </p:nvSpPr>
        <p:spPr/>
        <p:txBody>
          <a:bodyPr/>
          <a:lstStyle/>
          <a:p>
            <a:fld id="{E526EDF5-73A9-4F30-B1A6-8B6AF30FC97A}" type="slidenum">
              <a:rPr lang="en-US" smtClean="0"/>
              <a:t>11</a:t>
            </a:fld>
            <a:endParaRPr lang="en-US"/>
          </a:p>
        </p:txBody>
      </p:sp>
    </p:spTree>
    <p:extLst>
      <p:ext uri="{BB962C8B-B14F-4D97-AF65-F5344CB8AC3E}">
        <p14:creationId xmlns:p14="http://schemas.microsoft.com/office/powerpoint/2010/main" val="32951163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Commit a correct, precise and small change rather than an uncomplete and large change. Don’t commit it if a change is untested or uncompleted. Setting small commits other than a big commits will facilitate version controls.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Keeping commit message  precise help you and other team members to locate it and understand it.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 The default commit is master. However, a large project may be categorized into multiple parts. So the function of git branch is a good approach to manage various commits.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4. Reach an agreement on workflow and version control or other stuffs.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526EDF5-73A9-4F30-B1A6-8B6AF30FC97A}" type="slidenum">
              <a:rPr lang="en-US" smtClean="0"/>
              <a:t>12</a:t>
            </a:fld>
            <a:endParaRPr lang="en-US"/>
          </a:p>
        </p:txBody>
      </p:sp>
    </p:spTree>
    <p:extLst>
      <p:ext uri="{BB962C8B-B14F-4D97-AF65-F5344CB8AC3E}">
        <p14:creationId xmlns:p14="http://schemas.microsoft.com/office/powerpoint/2010/main" val="643276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26EDF5-73A9-4F30-B1A6-8B6AF30FC97A}" type="slidenum">
              <a:rPr lang="en-US" smtClean="0"/>
              <a:t>13</a:t>
            </a:fld>
            <a:endParaRPr lang="en-US"/>
          </a:p>
        </p:txBody>
      </p:sp>
    </p:spTree>
    <p:extLst>
      <p:ext uri="{BB962C8B-B14F-4D97-AF65-F5344CB8AC3E}">
        <p14:creationId xmlns:p14="http://schemas.microsoft.com/office/powerpoint/2010/main" val="32131622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listed 4 points though there are more applications for </a:t>
            </a:r>
            <a:r>
              <a:rPr lang="en-US" dirty="0" err="1"/>
              <a:t>github</a:t>
            </a:r>
            <a:r>
              <a:rPr lang="en-US" dirty="0"/>
              <a:t>. First, </a:t>
            </a:r>
            <a:r>
              <a:rPr lang="en-US" dirty="0" err="1"/>
              <a:t>github</a:t>
            </a:r>
            <a:r>
              <a:rPr lang="en-US" dirty="0"/>
              <a:t> could be used as remote repository host. Developers could keep a copy at local. Second, multiple developers could work together to conduct a big project at </a:t>
            </a:r>
            <a:r>
              <a:rPr lang="en-US" dirty="0" err="1"/>
              <a:t>github</a:t>
            </a:r>
            <a:r>
              <a:rPr lang="en-US" dirty="0"/>
              <a:t> without the worry of geographical limitations. Third, </a:t>
            </a:r>
            <a:r>
              <a:rPr lang="en-US" dirty="0" err="1"/>
              <a:t>github</a:t>
            </a:r>
            <a:r>
              <a:rPr lang="en-US" dirty="0"/>
              <a:t> is appealing to many talent developers all over the world. It is open-source and free. Feel free to get sterling project fitting well with one’s goals. Finally, </a:t>
            </a:r>
            <a:r>
              <a:rPr lang="en-US" dirty="0" err="1"/>
              <a:t>github</a:t>
            </a:r>
            <a:r>
              <a:rPr lang="en-US" dirty="0"/>
              <a:t> is a tool for project management. </a:t>
            </a:r>
            <a:r>
              <a:rPr lang="en-US" dirty="0" err="1"/>
              <a:t>Github</a:t>
            </a:r>
            <a:r>
              <a:rPr lang="en-US" dirty="0"/>
              <a:t> enhance coding cooperation and handle conflicts.  </a:t>
            </a:r>
            <a:r>
              <a:rPr lang="en-US" dirty="0" err="1"/>
              <a:t>Github</a:t>
            </a:r>
            <a:r>
              <a:rPr lang="en-US" dirty="0"/>
              <a:t> focuses on source code management. </a:t>
            </a:r>
            <a:r>
              <a:rPr lang="en-US" dirty="0" err="1"/>
              <a:t>Github</a:t>
            </a:r>
            <a:r>
              <a:rPr lang="en-US" dirty="0"/>
              <a:t> combined with other free tools namely google doc allows conducting project management.</a:t>
            </a:r>
          </a:p>
        </p:txBody>
      </p:sp>
      <p:sp>
        <p:nvSpPr>
          <p:cNvPr id="4" name="Slide Number Placeholder 3"/>
          <p:cNvSpPr>
            <a:spLocks noGrp="1"/>
          </p:cNvSpPr>
          <p:nvPr>
            <p:ph type="sldNum" sz="quarter" idx="5"/>
          </p:nvPr>
        </p:nvSpPr>
        <p:spPr/>
        <p:txBody>
          <a:bodyPr/>
          <a:lstStyle/>
          <a:p>
            <a:fld id="{E526EDF5-73A9-4F30-B1A6-8B6AF30FC97A}" type="slidenum">
              <a:rPr lang="en-US" smtClean="0"/>
              <a:t>14</a:t>
            </a:fld>
            <a:endParaRPr lang="en-US"/>
          </a:p>
        </p:txBody>
      </p:sp>
    </p:spTree>
    <p:extLst>
      <p:ext uri="{BB962C8B-B14F-4D97-AF65-F5344CB8AC3E}">
        <p14:creationId xmlns:p14="http://schemas.microsoft.com/office/powerpoint/2010/main" val="7100834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9CFBA-7278-4EB3-9731-0EC2CA6826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F4736D1-9549-46F6-82E7-ADBB83F78A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552AB9B-6AC1-4A4E-A922-525FB5EA0CD8}"/>
              </a:ext>
            </a:extLst>
          </p:cNvPr>
          <p:cNvSpPr>
            <a:spLocks noGrp="1"/>
          </p:cNvSpPr>
          <p:nvPr>
            <p:ph type="dt" sz="half" idx="10"/>
          </p:nvPr>
        </p:nvSpPr>
        <p:spPr/>
        <p:txBody>
          <a:bodyPr/>
          <a:lstStyle/>
          <a:p>
            <a:fld id="{01E01B02-CFB9-4BE7-AFFD-E66651E1C201}" type="datetimeFigureOut">
              <a:rPr lang="en-US" smtClean="0"/>
              <a:t>2/6/2020</a:t>
            </a:fld>
            <a:endParaRPr lang="en-US"/>
          </a:p>
        </p:txBody>
      </p:sp>
      <p:sp>
        <p:nvSpPr>
          <p:cNvPr id="5" name="Footer Placeholder 4">
            <a:extLst>
              <a:ext uri="{FF2B5EF4-FFF2-40B4-BE49-F238E27FC236}">
                <a16:creationId xmlns:a16="http://schemas.microsoft.com/office/drawing/2014/main" id="{18035F38-1F90-4E8A-A282-D9ED88CD8C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310FD0-81EB-48A4-9258-8398DE9F951D}"/>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1092680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291A9-88F4-4E90-8C13-8F233660FC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6DEEEA-3E05-42DF-9116-AE885F6EEE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835EB9-23F6-4C86-98BE-9E0C1425437B}"/>
              </a:ext>
            </a:extLst>
          </p:cNvPr>
          <p:cNvSpPr>
            <a:spLocks noGrp="1"/>
          </p:cNvSpPr>
          <p:nvPr>
            <p:ph type="dt" sz="half" idx="10"/>
          </p:nvPr>
        </p:nvSpPr>
        <p:spPr/>
        <p:txBody>
          <a:bodyPr/>
          <a:lstStyle/>
          <a:p>
            <a:fld id="{01E01B02-CFB9-4BE7-AFFD-E66651E1C201}" type="datetimeFigureOut">
              <a:rPr lang="en-US" smtClean="0"/>
              <a:t>2/6/2020</a:t>
            </a:fld>
            <a:endParaRPr lang="en-US"/>
          </a:p>
        </p:txBody>
      </p:sp>
      <p:sp>
        <p:nvSpPr>
          <p:cNvPr id="5" name="Footer Placeholder 4">
            <a:extLst>
              <a:ext uri="{FF2B5EF4-FFF2-40B4-BE49-F238E27FC236}">
                <a16:creationId xmlns:a16="http://schemas.microsoft.com/office/drawing/2014/main" id="{C4BFB126-880B-4535-91D3-24DE5315DE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282CE4-5F0D-492C-A7C4-573DFAFCCE64}"/>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3979708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8834F-1BE7-44DD-8ED6-62700B61F1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9890E5A-F37E-43F8-9F2B-F1D5FFC2BC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72CB44-75A4-44D8-8DE6-2D637C175B7E}"/>
              </a:ext>
            </a:extLst>
          </p:cNvPr>
          <p:cNvSpPr>
            <a:spLocks noGrp="1"/>
          </p:cNvSpPr>
          <p:nvPr>
            <p:ph type="dt" sz="half" idx="10"/>
          </p:nvPr>
        </p:nvSpPr>
        <p:spPr/>
        <p:txBody>
          <a:bodyPr/>
          <a:lstStyle/>
          <a:p>
            <a:fld id="{01E01B02-CFB9-4BE7-AFFD-E66651E1C201}" type="datetimeFigureOut">
              <a:rPr lang="en-US" smtClean="0"/>
              <a:t>2/6/2020</a:t>
            </a:fld>
            <a:endParaRPr lang="en-US"/>
          </a:p>
        </p:txBody>
      </p:sp>
      <p:sp>
        <p:nvSpPr>
          <p:cNvPr id="5" name="Footer Placeholder 4">
            <a:extLst>
              <a:ext uri="{FF2B5EF4-FFF2-40B4-BE49-F238E27FC236}">
                <a16:creationId xmlns:a16="http://schemas.microsoft.com/office/drawing/2014/main" id="{D6A6318C-9B86-43AE-B62C-6798A7B943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5E21BB-7B39-442C-9A2F-A71606FE7831}"/>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3719072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1CDE0-49EB-42CE-982C-3023921EC6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49870B-AB41-452D-AFE5-F9403D30FE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29CBAD-E0D3-4ABC-8395-1D546609631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2363517-E313-455F-8B5D-79410964A66E}"/>
              </a:ext>
            </a:extLst>
          </p:cNvPr>
          <p:cNvSpPr>
            <a:spLocks noGrp="1"/>
          </p:cNvSpPr>
          <p:nvPr>
            <p:ph type="dt" sz="half" idx="10"/>
          </p:nvPr>
        </p:nvSpPr>
        <p:spPr/>
        <p:txBody>
          <a:bodyPr/>
          <a:lstStyle/>
          <a:p>
            <a:fld id="{01E01B02-CFB9-4BE7-AFFD-E66651E1C201}" type="datetimeFigureOut">
              <a:rPr lang="en-US" smtClean="0"/>
              <a:t>2/6/2020</a:t>
            </a:fld>
            <a:endParaRPr lang="en-US"/>
          </a:p>
        </p:txBody>
      </p:sp>
      <p:sp>
        <p:nvSpPr>
          <p:cNvPr id="6" name="Footer Placeholder 5">
            <a:extLst>
              <a:ext uri="{FF2B5EF4-FFF2-40B4-BE49-F238E27FC236}">
                <a16:creationId xmlns:a16="http://schemas.microsoft.com/office/drawing/2014/main" id="{262CEB3E-7FD3-437B-8B84-4CBC8AB83C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575424-F69E-436B-8506-27D2346DFC9C}"/>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4208662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0A273-610E-4E32-8B8A-E52ABA77FE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B67AA1A-186E-439C-9AA2-F0AE095D09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F6384C-C5F4-41E6-BB14-90EBDF9FA8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08F50F-49EA-4E8F-8608-A81C6D2D62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A6D8C2-9EFE-4B40-8009-3562B94C1A1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1551CB-552F-4203-B2CE-E93307BE5157}"/>
              </a:ext>
            </a:extLst>
          </p:cNvPr>
          <p:cNvSpPr>
            <a:spLocks noGrp="1"/>
          </p:cNvSpPr>
          <p:nvPr>
            <p:ph type="dt" sz="half" idx="10"/>
          </p:nvPr>
        </p:nvSpPr>
        <p:spPr/>
        <p:txBody>
          <a:bodyPr/>
          <a:lstStyle/>
          <a:p>
            <a:fld id="{01E01B02-CFB9-4BE7-AFFD-E66651E1C201}" type="datetimeFigureOut">
              <a:rPr lang="en-US" smtClean="0"/>
              <a:t>2/6/2020</a:t>
            </a:fld>
            <a:endParaRPr lang="en-US"/>
          </a:p>
        </p:txBody>
      </p:sp>
      <p:sp>
        <p:nvSpPr>
          <p:cNvPr id="8" name="Footer Placeholder 7">
            <a:extLst>
              <a:ext uri="{FF2B5EF4-FFF2-40B4-BE49-F238E27FC236}">
                <a16:creationId xmlns:a16="http://schemas.microsoft.com/office/drawing/2014/main" id="{5B259EAD-F69A-41DA-A5B4-F09581C3031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3D2795-7649-472E-ACAC-21F7B92A6552}"/>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16889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68A0B-CD8C-41A2-87C4-5E84235B559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7477AC3-3055-4984-9A8E-C7DE52188D4E}"/>
              </a:ext>
            </a:extLst>
          </p:cNvPr>
          <p:cNvSpPr>
            <a:spLocks noGrp="1"/>
          </p:cNvSpPr>
          <p:nvPr>
            <p:ph type="dt" sz="half" idx="10"/>
          </p:nvPr>
        </p:nvSpPr>
        <p:spPr/>
        <p:txBody>
          <a:bodyPr/>
          <a:lstStyle/>
          <a:p>
            <a:fld id="{01E01B02-CFB9-4BE7-AFFD-E66651E1C201}" type="datetimeFigureOut">
              <a:rPr lang="en-US" smtClean="0"/>
              <a:t>2/6/2020</a:t>
            </a:fld>
            <a:endParaRPr lang="en-US"/>
          </a:p>
        </p:txBody>
      </p:sp>
      <p:sp>
        <p:nvSpPr>
          <p:cNvPr id="4" name="Footer Placeholder 3">
            <a:extLst>
              <a:ext uri="{FF2B5EF4-FFF2-40B4-BE49-F238E27FC236}">
                <a16:creationId xmlns:a16="http://schemas.microsoft.com/office/drawing/2014/main" id="{3B1D6781-3C95-4C3A-A642-6CBD598558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5CCA2B6-0F8A-4464-901A-E9DB3BD2056E}"/>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3737958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6A254C-BB94-4794-BEA3-5FAF3195D497}"/>
              </a:ext>
            </a:extLst>
          </p:cNvPr>
          <p:cNvSpPr>
            <a:spLocks noGrp="1"/>
          </p:cNvSpPr>
          <p:nvPr>
            <p:ph type="dt" sz="half" idx="10"/>
          </p:nvPr>
        </p:nvSpPr>
        <p:spPr/>
        <p:txBody>
          <a:bodyPr/>
          <a:lstStyle/>
          <a:p>
            <a:fld id="{01E01B02-CFB9-4BE7-AFFD-E66651E1C201}" type="datetimeFigureOut">
              <a:rPr lang="en-US" smtClean="0"/>
              <a:t>2/6/2020</a:t>
            </a:fld>
            <a:endParaRPr lang="en-US"/>
          </a:p>
        </p:txBody>
      </p:sp>
      <p:sp>
        <p:nvSpPr>
          <p:cNvPr id="3" name="Footer Placeholder 2">
            <a:extLst>
              <a:ext uri="{FF2B5EF4-FFF2-40B4-BE49-F238E27FC236}">
                <a16:creationId xmlns:a16="http://schemas.microsoft.com/office/drawing/2014/main" id="{0F02BB9C-1134-4BC3-8260-BA2B6F56AE4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30D7066-657E-48BA-9404-359D9CC51EA1}"/>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1078036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FF829-3243-4B52-8281-E9DDA1F38B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5154CC9-3699-44C0-89DC-687A8006B0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A442CF5-67A5-4DBF-83FB-3ECFBB4887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510D33-C28F-41CB-9D79-0DF80EEBA07A}"/>
              </a:ext>
            </a:extLst>
          </p:cNvPr>
          <p:cNvSpPr>
            <a:spLocks noGrp="1"/>
          </p:cNvSpPr>
          <p:nvPr>
            <p:ph type="dt" sz="half" idx="10"/>
          </p:nvPr>
        </p:nvSpPr>
        <p:spPr/>
        <p:txBody>
          <a:bodyPr/>
          <a:lstStyle/>
          <a:p>
            <a:fld id="{01E01B02-CFB9-4BE7-AFFD-E66651E1C201}" type="datetimeFigureOut">
              <a:rPr lang="en-US" smtClean="0"/>
              <a:t>2/6/2020</a:t>
            </a:fld>
            <a:endParaRPr lang="en-US"/>
          </a:p>
        </p:txBody>
      </p:sp>
      <p:sp>
        <p:nvSpPr>
          <p:cNvPr id="6" name="Footer Placeholder 5">
            <a:extLst>
              <a:ext uri="{FF2B5EF4-FFF2-40B4-BE49-F238E27FC236}">
                <a16:creationId xmlns:a16="http://schemas.microsoft.com/office/drawing/2014/main" id="{79AC33DC-C239-4AF8-9D1E-E779E15D02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66A338-41FE-4734-B552-5C90AA02B884}"/>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3057788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83626-38EC-40FC-81BC-1065A1D106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D82D3D4-8C98-4F89-A194-5314F44C4B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3BBCA05-EAE4-4A75-9B5F-29F22B4FC9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650693-A768-4B8B-9F75-109A0C237031}"/>
              </a:ext>
            </a:extLst>
          </p:cNvPr>
          <p:cNvSpPr>
            <a:spLocks noGrp="1"/>
          </p:cNvSpPr>
          <p:nvPr>
            <p:ph type="dt" sz="half" idx="10"/>
          </p:nvPr>
        </p:nvSpPr>
        <p:spPr/>
        <p:txBody>
          <a:bodyPr/>
          <a:lstStyle/>
          <a:p>
            <a:fld id="{01E01B02-CFB9-4BE7-AFFD-E66651E1C201}" type="datetimeFigureOut">
              <a:rPr lang="en-US" smtClean="0"/>
              <a:t>2/6/2020</a:t>
            </a:fld>
            <a:endParaRPr lang="en-US"/>
          </a:p>
        </p:txBody>
      </p:sp>
      <p:sp>
        <p:nvSpPr>
          <p:cNvPr id="6" name="Footer Placeholder 5">
            <a:extLst>
              <a:ext uri="{FF2B5EF4-FFF2-40B4-BE49-F238E27FC236}">
                <a16:creationId xmlns:a16="http://schemas.microsoft.com/office/drawing/2014/main" id="{72705722-A632-4957-BEFD-CA108BB95F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7034C4-659F-4689-A76E-263606490B10}"/>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2717093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064A0-DAE7-497D-A81A-04DDA7D2DD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1C56EF7-54F1-4ABB-8450-E287FA405D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0116C4-249A-4AED-8C24-8A13F2A93BAF}"/>
              </a:ext>
            </a:extLst>
          </p:cNvPr>
          <p:cNvSpPr>
            <a:spLocks noGrp="1"/>
          </p:cNvSpPr>
          <p:nvPr>
            <p:ph type="dt" sz="half" idx="10"/>
          </p:nvPr>
        </p:nvSpPr>
        <p:spPr/>
        <p:txBody>
          <a:bodyPr/>
          <a:lstStyle/>
          <a:p>
            <a:fld id="{01E01B02-CFB9-4BE7-AFFD-E66651E1C201}" type="datetimeFigureOut">
              <a:rPr lang="en-US" smtClean="0"/>
              <a:t>2/6/2020</a:t>
            </a:fld>
            <a:endParaRPr lang="en-US"/>
          </a:p>
        </p:txBody>
      </p:sp>
      <p:sp>
        <p:nvSpPr>
          <p:cNvPr id="5" name="Footer Placeholder 4">
            <a:extLst>
              <a:ext uri="{FF2B5EF4-FFF2-40B4-BE49-F238E27FC236}">
                <a16:creationId xmlns:a16="http://schemas.microsoft.com/office/drawing/2014/main" id="{36B953A9-6C7F-4A0D-BC4B-77B717ABBF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6677AD-112F-4BFB-85B0-28EC54B6413B}"/>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38127973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B193EE-D243-4226-9CE6-3A107A07630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5420C8-2A2C-4D59-BB85-A9122D7066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7D92ED-73E0-43F9-9659-5926218A1612}"/>
              </a:ext>
            </a:extLst>
          </p:cNvPr>
          <p:cNvSpPr>
            <a:spLocks noGrp="1"/>
          </p:cNvSpPr>
          <p:nvPr>
            <p:ph type="dt" sz="half" idx="10"/>
          </p:nvPr>
        </p:nvSpPr>
        <p:spPr/>
        <p:txBody>
          <a:bodyPr/>
          <a:lstStyle/>
          <a:p>
            <a:fld id="{01E01B02-CFB9-4BE7-AFFD-E66651E1C201}" type="datetimeFigureOut">
              <a:rPr lang="en-US" smtClean="0"/>
              <a:t>2/6/2020</a:t>
            </a:fld>
            <a:endParaRPr lang="en-US"/>
          </a:p>
        </p:txBody>
      </p:sp>
      <p:sp>
        <p:nvSpPr>
          <p:cNvPr id="5" name="Footer Placeholder 4">
            <a:extLst>
              <a:ext uri="{FF2B5EF4-FFF2-40B4-BE49-F238E27FC236}">
                <a16:creationId xmlns:a16="http://schemas.microsoft.com/office/drawing/2014/main" id="{E5D28322-7817-470B-8A6B-F1D434BA26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82E6F2-BB4F-4B52-B4EE-179AE8CDF7D2}"/>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2250448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AAFC31-B832-4BF1-B059-70054D1400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B561D12-50BE-4FF9-957D-5A61FFDA85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20FBD4-EC49-4302-9342-57454FC6B2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E01B02-CFB9-4BE7-AFFD-E66651E1C201}" type="datetimeFigureOut">
              <a:rPr lang="en-US" smtClean="0"/>
              <a:t>2/6/2020</a:t>
            </a:fld>
            <a:endParaRPr lang="en-US"/>
          </a:p>
        </p:txBody>
      </p:sp>
      <p:sp>
        <p:nvSpPr>
          <p:cNvPr id="5" name="Footer Placeholder 4">
            <a:extLst>
              <a:ext uri="{FF2B5EF4-FFF2-40B4-BE49-F238E27FC236}">
                <a16:creationId xmlns:a16="http://schemas.microsoft.com/office/drawing/2014/main" id="{DC89B591-E304-4539-84E8-50F8F85809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96072A4-F25A-4550-BEDC-84064985EA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B8275-B259-402B-84A9-4510FAEE6AEF}" type="slidenum">
              <a:rPr lang="en-US" smtClean="0"/>
              <a:t>‹#›</a:t>
            </a:fld>
            <a:endParaRPr lang="en-US"/>
          </a:p>
        </p:txBody>
      </p:sp>
    </p:spTree>
    <p:extLst>
      <p:ext uri="{BB962C8B-B14F-4D97-AF65-F5344CB8AC3E}">
        <p14:creationId xmlns:p14="http://schemas.microsoft.com/office/powerpoint/2010/main" val="35715460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1458A-1DC2-4BD0-80E7-B5B1D2F0350F}"/>
              </a:ext>
            </a:extLst>
          </p:cNvPr>
          <p:cNvSpPr>
            <a:spLocks noGrp="1"/>
          </p:cNvSpPr>
          <p:nvPr>
            <p:ph type="ctrTitle"/>
          </p:nvPr>
        </p:nvSpPr>
        <p:spPr/>
        <p:txBody>
          <a:bodyPr>
            <a:normAutofit/>
          </a:bodyPr>
          <a:lstStyle/>
          <a:p>
            <a:r>
              <a:rPr lang="en-US" dirty="0"/>
              <a:t>Develop Python pipeline:</a:t>
            </a:r>
            <a:br>
              <a:rPr lang="en-US" dirty="0"/>
            </a:br>
            <a:r>
              <a:rPr lang="en-US" dirty="0"/>
              <a:t>Version Control</a:t>
            </a:r>
          </a:p>
        </p:txBody>
      </p:sp>
      <p:sp>
        <p:nvSpPr>
          <p:cNvPr id="3" name="Subtitle 2">
            <a:extLst>
              <a:ext uri="{FF2B5EF4-FFF2-40B4-BE49-F238E27FC236}">
                <a16:creationId xmlns:a16="http://schemas.microsoft.com/office/drawing/2014/main" id="{5930F043-6162-49F5-A5C0-1CA1BC2BE72D}"/>
              </a:ext>
            </a:extLst>
          </p:cNvPr>
          <p:cNvSpPr>
            <a:spLocks noGrp="1"/>
          </p:cNvSpPr>
          <p:nvPr>
            <p:ph type="subTitle" idx="1"/>
          </p:nvPr>
        </p:nvSpPr>
        <p:spPr>
          <a:xfrm>
            <a:off x="1524000" y="4235116"/>
            <a:ext cx="9144000" cy="1022684"/>
          </a:xfrm>
        </p:spPr>
        <p:txBody>
          <a:bodyPr/>
          <a:lstStyle/>
          <a:p>
            <a:r>
              <a:rPr lang="en-US" dirty="0"/>
              <a:t>Tiezheng Yuan</a:t>
            </a:r>
          </a:p>
          <a:p>
            <a:r>
              <a:rPr lang="en-US" dirty="0"/>
              <a:t>Feb 07, 2020</a:t>
            </a:r>
          </a:p>
        </p:txBody>
      </p:sp>
    </p:spTree>
    <p:extLst>
      <p:ext uri="{BB962C8B-B14F-4D97-AF65-F5344CB8AC3E}">
        <p14:creationId xmlns:p14="http://schemas.microsoft.com/office/powerpoint/2010/main" val="2805599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9BEF9-398D-40DC-8C97-248AEB2CE52A}"/>
              </a:ext>
            </a:extLst>
          </p:cNvPr>
          <p:cNvSpPr>
            <a:spLocks noGrp="1"/>
          </p:cNvSpPr>
          <p:nvPr>
            <p:ph type="title"/>
          </p:nvPr>
        </p:nvSpPr>
        <p:spPr/>
        <p:txBody>
          <a:bodyPr/>
          <a:lstStyle/>
          <a:p>
            <a:pPr algn="ctr"/>
            <a:r>
              <a:rPr lang="en-US" dirty="0"/>
              <a:t>Version Control</a:t>
            </a:r>
          </a:p>
        </p:txBody>
      </p:sp>
      <p:sp>
        <p:nvSpPr>
          <p:cNvPr id="3" name="Content Placeholder 2">
            <a:extLst>
              <a:ext uri="{FF2B5EF4-FFF2-40B4-BE49-F238E27FC236}">
                <a16:creationId xmlns:a16="http://schemas.microsoft.com/office/drawing/2014/main" id="{D042904E-5B2A-42E8-8042-C4F9429711E6}"/>
              </a:ext>
            </a:extLst>
          </p:cNvPr>
          <p:cNvSpPr>
            <a:spLocks noGrp="1"/>
          </p:cNvSpPr>
          <p:nvPr>
            <p:ph idx="1"/>
          </p:nvPr>
        </p:nvSpPr>
        <p:spPr>
          <a:xfrm>
            <a:off x="632927" y="1471062"/>
            <a:ext cx="10515600" cy="1038874"/>
          </a:xfrm>
        </p:spPr>
        <p:txBody>
          <a:bodyPr>
            <a:normAutofit/>
          </a:bodyPr>
          <a:lstStyle/>
          <a:p>
            <a:pPr marL="0" indent="0">
              <a:buNone/>
            </a:pPr>
            <a:r>
              <a:rPr lang="en-US" sz="3200" b="1" dirty="0"/>
              <a:t>Version control</a:t>
            </a:r>
            <a:r>
              <a:rPr lang="en-US" sz="3200" dirty="0"/>
              <a:t> is the process of tracking information system releases or software versions.</a:t>
            </a:r>
          </a:p>
        </p:txBody>
      </p:sp>
      <p:sp>
        <p:nvSpPr>
          <p:cNvPr id="4" name="Content Placeholder 2">
            <a:extLst>
              <a:ext uri="{FF2B5EF4-FFF2-40B4-BE49-F238E27FC236}">
                <a16:creationId xmlns:a16="http://schemas.microsoft.com/office/drawing/2014/main" id="{E5FCC777-3D92-485C-A1E6-BDD311A0E6BE}"/>
              </a:ext>
            </a:extLst>
          </p:cNvPr>
          <p:cNvSpPr txBox="1">
            <a:spLocks/>
          </p:cNvSpPr>
          <p:nvPr/>
        </p:nvSpPr>
        <p:spPr>
          <a:xfrm>
            <a:off x="990600" y="2796625"/>
            <a:ext cx="10515600" cy="384865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1" dirty="0"/>
              <a:t>Deploy software</a:t>
            </a:r>
            <a:r>
              <a:rPr lang="en-US" sz="3200" dirty="0"/>
              <a:t>: Implement the latest version of a pipeline, and archive the prior version. Deploy a certain old version.</a:t>
            </a:r>
          </a:p>
          <a:p>
            <a:r>
              <a:rPr lang="en-US" sz="3200" b="1" dirty="0"/>
              <a:t>Track development process</a:t>
            </a:r>
            <a:r>
              <a:rPr lang="en-US" sz="3200" dirty="0"/>
              <a:t>: Who change the code. When new functionality is imported. When bugs are aroused. </a:t>
            </a:r>
          </a:p>
          <a:p>
            <a:r>
              <a:rPr lang="en-US" sz="3200" b="1" dirty="0"/>
              <a:t>Enhance cooperation</a:t>
            </a:r>
            <a:r>
              <a:rPr lang="en-US" sz="3200" dirty="0"/>
              <a:t>: Keep one single correct version at a specific time point. Share codes among team members.</a:t>
            </a:r>
          </a:p>
          <a:p>
            <a:r>
              <a:rPr lang="en-US" sz="3200" b="1" dirty="0"/>
              <a:t>Backup software</a:t>
            </a:r>
            <a:r>
              <a:rPr lang="en-US" sz="3200" dirty="0"/>
              <a:t>: Some pipelines are under fast pace updating, or have specific life cycles. </a:t>
            </a:r>
          </a:p>
        </p:txBody>
      </p:sp>
    </p:spTree>
    <p:extLst>
      <p:ext uri="{BB962C8B-B14F-4D97-AF65-F5344CB8AC3E}">
        <p14:creationId xmlns:p14="http://schemas.microsoft.com/office/powerpoint/2010/main" val="215641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36A3D-5571-490D-95DD-1B1028BD3AFD}"/>
              </a:ext>
            </a:extLst>
          </p:cNvPr>
          <p:cNvSpPr>
            <a:spLocks noGrp="1"/>
          </p:cNvSpPr>
          <p:nvPr>
            <p:ph type="title"/>
          </p:nvPr>
        </p:nvSpPr>
        <p:spPr/>
        <p:txBody>
          <a:bodyPr/>
          <a:lstStyle/>
          <a:p>
            <a:pPr algn="ctr"/>
            <a:r>
              <a:rPr lang="en-US" dirty="0"/>
              <a:t>Release maintenance</a:t>
            </a:r>
          </a:p>
        </p:txBody>
      </p:sp>
      <p:sp>
        <p:nvSpPr>
          <p:cNvPr id="3" name="Content Placeholder 2">
            <a:extLst>
              <a:ext uri="{FF2B5EF4-FFF2-40B4-BE49-F238E27FC236}">
                <a16:creationId xmlns:a16="http://schemas.microsoft.com/office/drawing/2014/main" id="{DE2585D4-2A8C-4695-8702-581CB4177AE2}"/>
              </a:ext>
            </a:extLst>
          </p:cNvPr>
          <p:cNvSpPr>
            <a:spLocks noGrp="1"/>
          </p:cNvSpPr>
          <p:nvPr>
            <p:ph idx="1"/>
          </p:nvPr>
        </p:nvSpPr>
        <p:spPr>
          <a:xfrm>
            <a:off x="838200" y="1825625"/>
            <a:ext cx="10515600" cy="4667250"/>
          </a:xfrm>
        </p:spPr>
        <p:txBody>
          <a:bodyPr>
            <a:normAutofit/>
          </a:bodyPr>
          <a:lstStyle/>
          <a:p>
            <a:r>
              <a:rPr lang="en-US" sz="3200" dirty="0"/>
              <a:t>Version control is based on various system releases or software versions.</a:t>
            </a:r>
          </a:p>
          <a:p>
            <a:r>
              <a:rPr lang="en-US" sz="3200" dirty="0"/>
              <a:t>The initial release is 1.0.  A change from v1.1 against v1.0 indicates minor enhancement; and a change from v2.0 against v1.0 indicates a significant upgrade.</a:t>
            </a:r>
          </a:p>
        </p:txBody>
      </p:sp>
    </p:spTree>
    <p:extLst>
      <p:ext uri="{BB962C8B-B14F-4D97-AF65-F5344CB8AC3E}">
        <p14:creationId xmlns:p14="http://schemas.microsoft.com/office/powerpoint/2010/main" val="20636773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770ED-B4B6-4EB6-ADCB-DC4DD76142F2}"/>
              </a:ext>
            </a:extLst>
          </p:cNvPr>
          <p:cNvSpPr>
            <a:spLocks noGrp="1"/>
          </p:cNvSpPr>
          <p:nvPr>
            <p:ph type="title"/>
          </p:nvPr>
        </p:nvSpPr>
        <p:spPr/>
        <p:txBody>
          <a:bodyPr/>
          <a:lstStyle/>
          <a:p>
            <a:pPr algn="ctr"/>
            <a:r>
              <a:rPr lang="en-US" dirty="0"/>
              <a:t>Version control system (VCS)</a:t>
            </a:r>
          </a:p>
        </p:txBody>
      </p:sp>
      <p:sp>
        <p:nvSpPr>
          <p:cNvPr id="3" name="Content Placeholder 2">
            <a:extLst>
              <a:ext uri="{FF2B5EF4-FFF2-40B4-BE49-F238E27FC236}">
                <a16:creationId xmlns:a16="http://schemas.microsoft.com/office/drawing/2014/main" id="{59B4E786-B38F-41DE-AB2F-00E563FF427B}"/>
              </a:ext>
            </a:extLst>
          </p:cNvPr>
          <p:cNvSpPr>
            <a:spLocks noGrp="1"/>
          </p:cNvSpPr>
          <p:nvPr>
            <p:ph idx="1"/>
          </p:nvPr>
        </p:nvSpPr>
        <p:spPr>
          <a:xfrm>
            <a:off x="838200" y="1825625"/>
            <a:ext cx="10515600" cy="4667250"/>
          </a:xfrm>
        </p:spPr>
        <p:txBody>
          <a:bodyPr>
            <a:normAutofit/>
          </a:bodyPr>
          <a:lstStyle/>
          <a:p>
            <a:r>
              <a:rPr lang="en-US" sz="3200" dirty="0"/>
              <a:t>Simple software</a:t>
            </a:r>
            <a:br>
              <a:rPr lang="en-US" sz="3200" dirty="0"/>
            </a:br>
            <a:r>
              <a:rPr lang="en-US" sz="3200" dirty="0"/>
              <a:t>	draw a table tracking versions</a:t>
            </a:r>
          </a:p>
          <a:p>
            <a:r>
              <a:rPr lang="en-US" sz="3200" dirty="0"/>
              <a:t>Complication information system: VCS</a:t>
            </a:r>
            <a:br>
              <a:rPr lang="en-US" sz="3200" dirty="0"/>
            </a:br>
            <a:r>
              <a:rPr lang="en-US" sz="3200" dirty="0"/>
              <a:t>	Serena: commercial VCS</a:t>
            </a:r>
            <a:br>
              <a:rPr lang="en-US" sz="3200" dirty="0"/>
            </a:br>
            <a:r>
              <a:rPr lang="en-US" sz="3200" dirty="0"/>
              <a:t>	</a:t>
            </a:r>
            <a:r>
              <a:rPr lang="en-US" sz="3200" b="1" dirty="0"/>
              <a:t>git: free and open-source VCS</a:t>
            </a:r>
          </a:p>
        </p:txBody>
      </p:sp>
    </p:spTree>
    <p:extLst>
      <p:ext uri="{BB962C8B-B14F-4D97-AF65-F5344CB8AC3E}">
        <p14:creationId xmlns:p14="http://schemas.microsoft.com/office/powerpoint/2010/main" val="3556364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9C466-D4A9-45DA-A541-B54A92746D38}"/>
              </a:ext>
            </a:extLst>
          </p:cNvPr>
          <p:cNvSpPr>
            <a:spLocks noGrp="1"/>
          </p:cNvSpPr>
          <p:nvPr>
            <p:ph type="title"/>
          </p:nvPr>
        </p:nvSpPr>
        <p:spPr>
          <a:xfrm>
            <a:off x="688911" y="-61209"/>
            <a:ext cx="10515600" cy="1325563"/>
          </a:xfrm>
        </p:spPr>
        <p:txBody>
          <a:bodyPr/>
          <a:lstStyle/>
          <a:p>
            <a:pPr algn="ctr"/>
            <a:r>
              <a:rPr lang="en-US" dirty="0"/>
              <a:t>git</a:t>
            </a:r>
          </a:p>
        </p:txBody>
      </p:sp>
      <p:pic>
        <p:nvPicPr>
          <p:cNvPr id="3" name="Picture 2">
            <a:extLst>
              <a:ext uri="{FF2B5EF4-FFF2-40B4-BE49-F238E27FC236}">
                <a16:creationId xmlns:a16="http://schemas.microsoft.com/office/drawing/2014/main" id="{598DC728-5C9E-4457-BB9F-4693B970D165}"/>
              </a:ext>
            </a:extLst>
          </p:cNvPr>
          <p:cNvPicPr>
            <a:picLocks noChangeAspect="1"/>
          </p:cNvPicPr>
          <p:nvPr/>
        </p:nvPicPr>
        <p:blipFill rotWithShape="1">
          <a:blip r:embed="rId3"/>
          <a:srcRect t="16315" b="21760"/>
          <a:stretch/>
        </p:blipFill>
        <p:spPr>
          <a:xfrm>
            <a:off x="0" y="1264354"/>
            <a:ext cx="12192000" cy="3979450"/>
          </a:xfrm>
          <a:prstGeom prst="rect">
            <a:avLst/>
          </a:prstGeom>
        </p:spPr>
      </p:pic>
    </p:spTree>
    <p:extLst>
      <p:ext uri="{BB962C8B-B14F-4D97-AF65-F5344CB8AC3E}">
        <p14:creationId xmlns:p14="http://schemas.microsoft.com/office/powerpoint/2010/main" val="1700792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770ED-B4B6-4EB6-ADCB-DC4DD76142F2}"/>
              </a:ext>
            </a:extLst>
          </p:cNvPr>
          <p:cNvSpPr>
            <a:spLocks noGrp="1"/>
          </p:cNvSpPr>
          <p:nvPr>
            <p:ph type="title"/>
          </p:nvPr>
        </p:nvSpPr>
        <p:spPr/>
        <p:txBody>
          <a:bodyPr/>
          <a:lstStyle/>
          <a:p>
            <a:pPr algn="ctr"/>
            <a:r>
              <a:rPr lang="en-US" dirty="0"/>
              <a:t>Git: manage source code</a:t>
            </a:r>
          </a:p>
        </p:txBody>
      </p:sp>
      <p:sp>
        <p:nvSpPr>
          <p:cNvPr id="3" name="Content Placeholder 2">
            <a:extLst>
              <a:ext uri="{FF2B5EF4-FFF2-40B4-BE49-F238E27FC236}">
                <a16:creationId xmlns:a16="http://schemas.microsoft.com/office/drawing/2014/main" id="{59B4E786-B38F-41DE-AB2F-00E563FF427B}"/>
              </a:ext>
            </a:extLst>
          </p:cNvPr>
          <p:cNvSpPr>
            <a:spLocks noGrp="1"/>
          </p:cNvSpPr>
          <p:nvPr>
            <p:ph idx="1"/>
          </p:nvPr>
        </p:nvSpPr>
        <p:spPr>
          <a:xfrm>
            <a:off x="838200" y="1825625"/>
            <a:ext cx="10515600" cy="2167877"/>
          </a:xfrm>
        </p:spPr>
        <p:txBody>
          <a:bodyPr>
            <a:normAutofit/>
          </a:bodyPr>
          <a:lstStyle/>
          <a:p>
            <a:r>
              <a:rPr lang="en-US" sz="3200" dirty="0"/>
              <a:t>Git tracks any changes to the source code.</a:t>
            </a:r>
          </a:p>
          <a:p>
            <a:r>
              <a:rPr lang="en-US" sz="3200" dirty="0"/>
              <a:t>Git allows to go back to any of old versions.</a:t>
            </a:r>
          </a:p>
          <a:p>
            <a:r>
              <a:rPr lang="en-US" sz="3200" dirty="0"/>
              <a:t>Git prevents loss of work or conflicts when multiple contributors work together.</a:t>
            </a:r>
          </a:p>
        </p:txBody>
      </p:sp>
    </p:spTree>
    <p:extLst>
      <p:ext uri="{BB962C8B-B14F-4D97-AF65-F5344CB8AC3E}">
        <p14:creationId xmlns:p14="http://schemas.microsoft.com/office/powerpoint/2010/main" val="3235447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F67DA-93E9-4DC6-B40C-D029F6B309FE}"/>
              </a:ext>
            </a:extLst>
          </p:cNvPr>
          <p:cNvSpPr>
            <a:spLocks noGrp="1"/>
          </p:cNvSpPr>
          <p:nvPr>
            <p:ph type="title"/>
          </p:nvPr>
        </p:nvSpPr>
        <p:spPr>
          <a:xfrm>
            <a:off x="838200" y="-7483"/>
            <a:ext cx="10515600" cy="1325563"/>
          </a:xfrm>
        </p:spPr>
        <p:txBody>
          <a:bodyPr/>
          <a:lstStyle/>
          <a:p>
            <a:pPr algn="ctr"/>
            <a:r>
              <a:rPr lang="en-US" dirty="0"/>
              <a:t>Basic workflow using Git</a:t>
            </a:r>
          </a:p>
        </p:txBody>
      </p:sp>
      <p:pic>
        <p:nvPicPr>
          <p:cNvPr id="6" name="Picture 5">
            <a:extLst>
              <a:ext uri="{FF2B5EF4-FFF2-40B4-BE49-F238E27FC236}">
                <a16:creationId xmlns:a16="http://schemas.microsoft.com/office/drawing/2014/main" id="{7DD1F371-D188-42A2-B3CA-BBEDEB0702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6030" y="2064980"/>
            <a:ext cx="10299940" cy="4093223"/>
          </a:xfrm>
          <a:prstGeom prst="rect">
            <a:avLst/>
          </a:prstGeom>
        </p:spPr>
      </p:pic>
    </p:spTree>
    <p:extLst>
      <p:ext uri="{BB962C8B-B14F-4D97-AF65-F5344CB8AC3E}">
        <p14:creationId xmlns:p14="http://schemas.microsoft.com/office/powerpoint/2010/main" val="1175493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CE916-D915-4EEF-B947-42A4E144D1B9}"/>
              </a:ext>
            </a:extLst>
          </p:cNvPr>
          <p:cNvSpPr>
            <a:spLocks noGrp="1"/>
          </p:cNvSpPr>
          <p:nvPr>
            <p:ph type="title"/>
          </p:nvPr>
        </p:nvSpPr>
        <p:spPr>
          <a:xfrm>
            <a:off x="838200" y="365126"/>
            <a:ext cx="10515600" cy="866516"/>
          </a:xfrm>
        </p:spPr>
        <p:txBody>
          <a:bodyPr/>
          <a:lstStyle/>
          <a:p>
            <a:pPr algn="ctr"/>
            <a:r>
              <a:rPr lang="en-US" dirty="0"/>
              <a:t>Initiate a local repository</a:t>
            </a:r>
          </a:p>
        </p:txBody>
      </p:sp>
      <p:sp>
        <p:nvSpPr>
          <p:cNvPr id="5" name="TextBox 4">
            <a:extLst>
              <a:ext uri="{FF2B5EF4-FFF2-40B4-BE49-F238E27FC236}">
                <a16:creationId xmlns:a16="http://schemas.microsoft.com/office/drawing/2014/main" id="{16B535B6-3FE4-4538-A88F-CFD33B14901F}"/>
              </a:ext>
            </a:extLst>
          </p:cNvPr>
          <p:cNvSpPr txBox="1"/>
          <p:nvPr/>
        </p:nvSpPr>
        <p:spPr>
          <a:xfrm>
            <a:off x="407175" y="1223541"/>
            <a:ext cx="3394584" cy="523220"/>
          </a:xfrm>
          <a:prstGeom prst="rect">
            <a:avLst/>
          </a:prstGeom>
          <a:noFill/>
        </p:spPr>
        <p:txBody>
          <a:bodyPr wrap="none" rtlCol="0">
            <a:spAutoFit/>
          </a:bodyPr>
          <a:lstStyle/>
          <a:p>
            <a:r>
              <a:rPr lang="en-US" sz="2800" dirty="0"/>
              <a:t>1. Initiate a repository</a:t>
            </a:r>
          </a:p>
        </p:txBody>
      </p:sp>
      <p:pic>
        <p:nvPicPr>
          <p:cNvPr id="6" name="Picture 5">
            <a:extLst>
              <a:ext uri="{FF2B5EF4-FFF2-40B4-BE49-F238E27FC236}">
                <a16:creationId xmlns:a16="http://schemas.microsoft.com/office/drawing/2014/main" id="{1AD70FAF-0F07-48E0-B254-993E2C38C9C3}"/>
              </a:ext>
            </a:extLst>
          </p:cNvPr>
          <p:cNvPicPr>
            <a:picLocks noChangeAspect="1"/>
          </p:cNvPicPr>
          <p:nvPr/>
        </p:nvPicPr>
        <p:blipFill rotWithShape="1">
          <a:blip r:embed="rId3"/>
          <a:srcRect l="17909" t="53450" r="38928" b="30718"/>
          <a:stretch/>
        </p:blipFill>
        <p:spPr>
          <a:xfrm>
            <a:off x="559575" y="1673221"/>
            <a:ext cx="11185029" cy="2306572"/>
          </a:xfrm>
          <a:prstGeom prst="rect">
            <a:avLst/>
          </a:prstGeom>
        </p:spPr>
      </p:pic>
      <p:pic>
        <p:nvPicPr>
          <p:cNvPr id="7" name="Picture 6">
            <a:extLst>
              <a:ext uri="{FF2B5EF4-FFF2-40B4-BE49-F238E27FC236}">
                <a16:creationId xmlns:a16="http://schemas.microsoft.com/office/drawing/2014/main" id="{F4603167-2515-4401-88FD-6B25D9368FF0}"/>
              </a:ext>
            </a:extLst>
          </p:cNvPr>
          <p:cNvPicPr>
            <a:picLocks noChangeAspect="1"/>
          </p:cNvPicPr>
          <p:nvPr/>
        </p:nvPicPr>
        <p:blipFill rotWithShape="1">
          <a:blip r:embed="rId4"/>
          <a:srcRect l="28872" t="64556" r="24235" b="30059"/>
          <a:stretch/>
        </p:blipFill>
        <p:spPr>
          <a:xfrm>
            <a:off x="478295" y="4882619"/>
            <a:ext cx="11185029" cy="722248"/>
          </a:xfrm>
          <a:prstGeom prst="rect">
            <a:avLst/>
          </a:prstGeom>
        </p:spPr>
      </p:pic>
      <p:sp>
        <p:nvSpPr>
          <p:cNvPr id="9" name="TextBox 8">
            <a:extLst>
              <a:ext uri="{FF2B5EF4-FFF2-40B4-BE49-F238E27FC236}">
                <a16:creationId xmlns:a16="http://schemas.microsoft.com/office/drawing/2014/main" id="{496491AC-E554-4F88-8BBF-F1541CCA535B}"/>
              </a:ext>
            </a:extLst>
          </p:cNvPr>
          <p:cNvSpPr txBox="1"/>
          <p:nvPr/>
        </p:nvSpPr>
        <p:spPr>
          <a:xfrm>
            <a:off x="559575" y="4439911"/>
            <a:ext cx="1842171" cy="523220"/>
          </a:xfrm>
          <a:prstGeom prst="rect">
            <a:avLst/>
          </a:prstGeom>
          <a:noFill/>
        </p:spPr>
        <p:txBody>
          <a:bodyPr wrap="none" rtlCol="0">
            <a:spAutoFit/>
          </a:bodyPr>
          <a:lstStyle/>
          <a:p>
            <a:r>
              <a:rPr lang="en-US" sz="2800" dirty="0"/>
              <a:t>2. Add user</a:t>
            </a:r>
          </a:p>
        </p:txBody>
      </p:sp>
      <p:sp>
        <p:nvSpPr>
          <p:cNvPr id="10" name="TextBox 9">
            <a:extLst>
              <a:ext uri="{FF2B5EF4-FFF2-40B4-BE49-F238E27FC236}">
                <a16:creationId xmlns:a16="http://schemas.microsoft.com/office/drawing/2014/main" id="{154525A8-F358-46E0-A049-501B5C291478}"/>
              </a:ext>
            </a:extLst>
          </p:cNvPr>
          <p:cNvSpPr txBox="1"/>
          <p:nvPr/>
        </p:nvSpPr>
        <p:spPr>
          <a:xfrm>
            <a:off x="407175" y="5785860"/>
            <a:ext cx="7514942" cy="523220"/>
          </a:xfrm>
          <a:prstGeom prst="rect">
            <a:avLst/>
          </a:prstGeom>
          <a:noFill/>
        </p:spPr>
        <p:txBody>
          <a:bodyPr wrap="none" rtlCol="0">
            <a:spAutoFit/>
          </a:bodyPr>
          <a:lstStyle/>
          <a:p>
            <a:r>
              <a:rPr lang="en-US" sz="2800" dirty="0"/>
              <a:t>3. Configure untracked files: create a file .</a:t>
            </a:r>
            <a:r>
              <a:rPr lang="en-US" sz="2800" dirty="0" err="1"/>
              <a:t>gitignore</a:t>
            </a:r>
            <a:endParaRPr lang="en-US" sz="2800" dirty="0"/>
          </a:p>
        </p:txBody>
      </p:sp>
    </p:spTree>
    <p:extLst>
      <p:ext uri="{BB962C8B-B14F-4D97-AF65-F5344CB8AC3E}">
        <p14:creationId xmlns:p14="http://schemas.microsoft.com/office/powerpoint/2010/main" val="16606665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0BF28-DC98-4BE2-B82D-6721BE3E6EFB}"/>
              </a:ext>
            </a:extLst>
          </p:cNvPr>
          <p:cNvSpPr>
            <a:spLocks noGrp="1"/>
          </p:cNvSpPr>
          <p:nvPr>
            <p:ph type="title"/>
          </p:nvPr>
        </p:nvSpPr>
        <p:spPr/>
        <p:txBody>
          <a:bodyPr/>
          <a:lstStyle/>
          <a:p>
            <a:pPr algn="ctr"/>
            <a:r>
              <a:rPr lang="en-US" dirty="0"/>
              <a:t>Conduct coding work and save changes</a:t>
            </a:r>
          </a:p>
        </p:txBody>
      </p:sp>
      <p:pic>
        <p:nvPicPr>
          <p:cNvPr id="3" name="Picture 2">
            <a:extLst>
              <a:ext uri="{FF2B5EF4-FFF2-40B4-BE49-F238E27FC236}">
                <a16:creationId xmlns:a16="http://schemas.microsoft.com/office/drawing/2014/main" id="{D058AB18-0659-4545-A628-973CCB6605C7}"/>
              </a:ext>
            </a:extLst>
          </p:cNvPr>
          <p:cNvPicPr>
            <a:picLocks noChangeAspect="1"/>
          </p:cNvPicPr>
          <p:nvPr/>
        </p:nvPicPr>
        <p:blipFill rotWithShape="1">
          <a:blip r:embed="rId3"/>
          <a:srcRect l="18025" t="55618" r="32965" b="30065"/>
          <a:stretch/>
        </p:blipFill>
        <p:spPr>
          <a:xfrm>
            <a:off x="391886" y="4627983"/>
            <a:ext cx="11354263" cy="1864891"/>
          </a:xfrm>
          <a:prstGeom prst="rect">
            <a:avLst/>
          </a:prstGeom>
        </p:spPr>
      </p:pic>
      <p:pic>
        <p:nvPicPr>
          <p:cNvPr id="5" name="Picture 4">
            <a:extLst>
              <a:ext uri="{FF2B5EF4-FFF2-40B4-BE49-F238E27FC236}">
                <a16:creationId xmlns:a16="http://schemas.microsoft.com/office/drawing/2014/main" id="{DA22596E-F0CF-4AD3-97D6-1304138C3D82}"/>
              </a:ext>
            </a:extLst>
          </p:cNvPr>
          <p:cNvPicPr>
            <a:picLocks noChangeAspect="1"/>
          </p:cNvPicPr>
          <p:nvPr/>
        </p:nvPicPr>
        <p:blipFill rotWithShape="1">
          <a:blip r:embed="rId4">
            <a:extLst>
              <a:ext uri="{28A0092B-C50C-407E-A947-70E740481C1C}">
                <a14:useLocalDpi xmlns:a14="http://schemas.microsoft.com/office/drawing/2010/main" val="0"/>
              </a:ext>
            </a:extLst>
          </a:blip>
          <a:srcRect l="6875" t="42963" r="48500" b="19704"/>
          <a:stretch/>
        </p:blipFill>
        <p:spPr>
          <a:xfrm>
            <a:off x="2498220" y="1879175"/>
            <a:ext cx="5440680" cy="2560320"/>
          </a:xfrm>
          <a:prstGeom prst="rect">
            <a:avLst/>
          </a:prstGeom>
        </p:spPr>
      </p:pic>
    </p:spTree>
    <p:extLst>
      <p:ext uri="{BB962C8B-B14F-4D97-AF65-F5344CB8AC3E}">
        <p14:creationId xmlns:p14="http://schemas.microsoft.com/office/powerpoint/2010/main" val="3189063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E829D-E80C-4E59-8C39-CB293A927DB6}"/>
              </a:ext>
            </a:extLst>
          </p:cNvPr>
          <p:cNvSpPr>
            <a:spLocks noGrp="1"/>
          </p:cNvSpPr>
          <p:nvPr>
            <p:ph type="title"/>
          </p:nvPr>
        </p:nvSpPr>
        <p:spPr/>
        <p:txBody>
          <a:bodyPr/>
          <a:lstStyle/>
          <a:p>
            <a:pPr algn="ctr"/>
            <a:r>
              <a:rPr lang="en-US" dirty="0"/>
              <a:t>Track changes</a:t>
            </a:r>
          </a:p>
        </p:txBody>
      </p:sp>
      <p:pic>
        <p:nvPicPr>
          <p:cNvPr id="3" name="Picture 2">
            <a:extLst>
              <a:ext uri="{FF2B5EF4-FFF2-40B4-BE49-F238E27FC236}">
                <a16:creationId xmlns:a16="http://schemas.microsoft.com/office/drawing/2014/main" id="{7C6FE071-8254-44AD-8261-147C01F3975E}"/>
              </a:ext>
            </a:extLst>
          </p:cNvPr>
          <p:cNvPicPr>
            <a:picLocks noChangeAspect="1"/>
          </p:cNvPicPr>
          <p:nvPr/>
        </p:nvPicPr>
        <p:blipFill rotWithShape="1">
          <a:blip r:embed="rId3"/>
          <a:srcRect l="17755" t="28624" r="39246" b="30316"/>
          <a:stretch/>
        </p:blipFill>
        <p:spPr>
          <a:xfrm>
            <a:off x="1379376" y="1633473"/>
            <a:ext cx="9051085" cy="4859402"/>
          </a:xfrm>
          <a:prstGeom prst="rect">
            <a:avLst/>
          </a:prstGeom>
        </p:spPr>
      </p:pic>
    </p:spTree>
    <p:extLst>
      <p:ext uri="{BB962C8B-B14F-4D97-AF65-F5344CB8AC3E}">
        <p14:creationId xmlns:p14="http://schemas.microsoft.com/office/powerpoint/2010/main" val="1506175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ADEFE-954B-4A2B-A623-1167D3ECF119}"/>
              </a:ext>
            </a:extLst>
          </p:cNvPr>
          <p:cNvSpPr>
            <a:spLocks noGrp="1"/>
          </p:cNvSpPr>
          <p:nvPr>
            <p:ph type="title"/>
          </p:nvPr>
        </p:nvSpPr>
        <p:spPr>
          <a:xfrm>
            <a:off x="838200" y="-250695"/>
            <a:ext cx="10515600" cy="1325563"/>
          </a:xfrm>
        </p:spPr>
        <p:txBody>
          <a:bodyPr/>
          <a:lstStyle/>
          <a:p>
            <a:pPr algn="ctr"/>
            <a:r>
              <a:rPr lang="en-US" dirty="0"/>
              <a:t>Go back the old version</a:t>
            </a:r>
          </a:p>
        </p:txBody>
      </p:sp>
      <p:pic>
        <p:nvPicPr>
          <p:cNvPr id="6" name="Picture 5">
            <a:extLst>
              <a:ext uri="{FF2B5EF4-FFF2-40B4-BE49-F238E27FC236}">
                <a16:creationId xmlns:a16="http://schemas.microsoft.com/office/drawing/2014/main" id="{D3588988-EB2C-4F82-AD0D-4E61186B5760}"/>
              </a:ext>
            </a:extLst>
          </p:cNvPr>
          <p:cNvPicPr>
            <a:picLocks noChangeAspect="1"/>
          </p:cNvPicPr>
          <p:nvPr/>
        </p:nvPicPr>
        <p:blipFill rotWithShape="1">
          <a:blip r:embed="rId3"/>
          <a:srcRect l="17755" t="28624" r="50704" b="30316"/>
          <a:stretch/>
        </p:blipFill>
        <p:spPr>
          <a:xfrm>
            <a:off x="227655" y="848727"/>
            <a:ext cx="6639176" cy="4859402"/>
          </a:xfrm>
          <a:prstGeom prst="rect">
            <a:avLst/>
          </a:prstGeom>
        </p:spPr>
      </p:pic>
      <p:pic>
        <p:nvPicPr>
          <p:cNvPr id="4" name="Picture 3">
            <a:extLst>
              <a:ext uri="{FF2B5EF4-FFF2-40B4-BE49-F238E27FC236}">
                <a16:creationId xmlns:a16="http://schemas.microsoft.com/office/drawing/2014/main" id="{D1DAE7EA-B6AA-44A9-A409-1E1301E57890}"/>
              </a:ext>
            </a:extLst>
          </p:cNvPr>
          <p:cNvPicPr>
            <a:picLocks noChangeAspect="1"/>
          </p:cNvPicPr>
          <p:nvPr/>
        </p:nvPicPr>
        <p:blipFill rotWithShape="1">
          <a:blip r:embed="rId4">
            <a:extLst>
              <a:ext uri="{28A0092B-C50C-407E-A947-70E740481C1C}">
                <a14:useLocalDpi xmlns:a14="http://schemas.microsoft.com/office/drawing/2010/main" val="0"/>
              </a:ext>
            </a:extLst>
          </a:blip>
          <a:srcRect l="8112" t="23945" r="36173" b="28310"/>
          <a:stretch/>
        </p:blipFill>
        <p:spPr>
          <a:xfrm>
            <a:off x="4483306" y="2596370"/>
            <a:ext cx="8749106" cy="4217437"/>
          </a:xfrm>
          <a:prstGeom prst="rect">
            <a:avLst/>
          </a:prstGeom>
        </p:spPr>
      </p:pic>
      <p:sp>
        <p:nvSpPr>
          <p:cNvPr id="5" name="Rectangle 4">
            <a:extLst>
              <a:ext uri="{FF2B5EF4-FFF2-40B4-BE49-F238E27FC236}">
                <a16:creationId xmlns:a16="http://schemas.microsoft.com/office/drawing/2014/main" id="{4573E564-376F-491C-ADCB-78F3E6610A8A}"/>
              </a:ext>
            </a:extLst>
          </p:cNvPr>
          <p:cNvSpPr/>
          <p:nvPr/>
        </p:nvSpPr>
        <p:spPr>
          <a:xfrm>
            <a:off x="227655" y="989520"/>
            <a:ext cx="3111811" cy="505701"/>
          </a:xfrm>
          <a:prstGeom prst="rect">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F8F05DC-0505-43B1-BFEB-CE6228EC3048}"/>
              </a:ext>
            </a:extLst>
          </p:cNvPr>
          <p:cNvSpPr/>
          <p:nvPr/>
        </p:nvSpPr>
        <p:spPr>
          <a:xfrm>
            <a:off x="8554561" y="2458597"/>
            <a:ext cx="3111811" cy="505701"/>
          </a:xfrm>
          <a:prstGeom prst="rect">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Arrow: Bent 8">
            <a:extLst>
              <a:ext uri="{FF2B5EF4-FFF2-40B4-BE49-F238E27FC236}">
                <a16:creationId xmlns:a16="http://schemas.microsoft.com/office/drawing/2014/main" id="{A2C7C44C-A8DF-4D28-AE2F-3B6846C97B7F}"/>
              </a:ext>
            </a:extLst>
          </p:cNvPr>
          <p:cNvSpPr/>
          <p:nvPr/>
        </p:nvSpPr>
        <p:spPr>
          <a:xfrm rot="5400000">
            <a:off x="7564048" y="1261648"/>
            <a:ext cx="736573" cy="1177980"/>
          </a:xfrm>
          <a:prstGeom prst="bentArrow">
            <a:avLst>
              <a:gd name="adj1" fmla="val 25000"/>
              <a:gd name="adj2" fmla="val 21832"/>
              <a:gd name="adj3" fmla="val 25000"/>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6574813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E01DE-4A2A-46EB-BEC1-CB26B4B67ABA}"/>
              </a:ext>
            </a:extLst>
          </p:cNvPr>
          <p:cNvSpPr>
            <a:spLocks noGrp="1"/>
          </p:cNvSpPr>
          <p:nvPr>
            <p:ph type="title"/>
          </p:nvPr>
        </p:nvSpPr>
        <p:spPr/>
        <p:txBody>
          <a:bodyPr/>
          <a:lstStyle/>
          <a:p>
            <a:pPr algn="ctr"/>
            <a:r>
              <a:rPr lang="en-US" dirty="0"/>
              <a:t>Notes of Git</a:t>
            </a:r>
          </a:p>
        </p:txBody>
      </p:sp>
      <p:sp>
        <p:nvSpPr>
          <p:cNvPr id="3" name="Content Placeholder 2">
            <a:extLst>
              <a:ext uri="{FF2B5EF4-FFF2-40B4-BE49-F238E27FC236}">
                <a16:creationId xmlns:a16="http://schemas.microsoft.com/office/drawing/2014/main" id="{E5279F27-A2AC-4CB4-8F17-F7B27985CE48}"/>
              </a:ext>
            </a:extLst>
          </p:cNvPr>
          <p:cNvSpPr>
            <a:spLocks noGrp="1"/>
          </p:cNvSpPr>
          <p:nvPr>
            <p:ph idx="1"/>
          </p:nvPr>
        </p:nvSpPr>
        <p:spPr>
          <a:xfrm>
            <a:off x="838200" y="1825625"/>
            <a:ext cx="10515600" cy="3613883"/>
          </a:xfrm>
        </p:spPr>
        <p:txBody>
          <a:bodyPr>
            <a:normAutofit/>
          </a:bodyPr>
          <a:lstStyle/>
          <a:p>
            <a:r>
              <a:rPr lang="en-US" sz="3200" dirty="0"/>
              <a:t>Commit a correct, precise and small change rather than an uncomplete and large change.</a:t>
            </a:r>
          </a:p>
          <a:p>
            <a:r>
              <a:rPr lang="en-US" sz="3200" dirty="0"/>
              <a:t>Keep commit message explicit.</a:t>
            </a:r>
          </a:p>
          <a:p>
            <a:r>
              <a:rPr lang="en-US" sz="3200" dirty="0"/>
              <a:t>Use git branch in a large project.</a:t>
            </a:r>
          </a:p>
          <a:p>
            <a:r>
              <a:rPr lang="en-US" sz="3200" dirty="0"/>
              <a:t>Reach an agreement on workflow and version control.</a:t>
            </a:r>
          </a:p>
        </p:txBody>
      </p:sp>
    </p:spTree>
    <p:extLst>
      <p:ext uri="{BB962C8B-B14F-4D97-AF65-F5344CB8AC3E}">
        <p14:creationId xmlns:p14="http://schemas.microsoft.com/office/powerpoint/2010/main" val="827775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B5678-6E4B-467D-8ACF-4929EB2AA798}"/>
              </a:ext>
            </a:extLst>
          </p:cNvPr>
          <p:cNvSpPr>
            <a:spLocks noGrp="1"/>
          </p:cNvSpPr>
          <p:nvPr>
            <p:ph type="title"/>
          </p:nvPr>
        </p:nvSpPr>
        <p:spPr>
          <a:xfrm>
            <a:off x="838200" y="378407"/>
            <a:ext cx="10515600" cy="605259"/>
          </a:xfrm>
        </p:spPr>
        <p:txBody>
          <a:bodyPr>
            <a:normAutofit fontScale="90000"/>
          </a:bodyPr>
          <a:lstStyle/>
          <a:p>
            <a:pPr algn="ctr"/>
            <a:r>
              <a:rPr lang="en-US" dirty="0" err="1"/>
              <a:t>Github</a:t>
            </a:r>
            <a:endParaRPr lang="en-US" dirty="0"/>
          </a:p>
        </p:txBody>
      </p:sp>
      <p:sp>
        <p:nvSpPr>
          <p:cNvPr id="3" name="Content Placeholder 2">
            <a:extLst>
              <a:ext uri="{FF2B5EF4-FFF2-40B4-BE49-F238E27FC236}">
                <a16:creationId xmlns:a16="http://schemas.microsoft.com/office/drawing/2014/main" id="{9246B36A-7E1C-4DE9-926D-70DF1E55FB86}"/>
              </a:ext>
            </a:extLst>
          </p:cNvPr>
          <p:cNvSpPr>
            <a:spLocks noGrp="1"/>
          </p:cNvSpPr>
          <p:nvPr>
            <p:ph idx="1"/>
          </p:nvPr>
        </p:nvSpPr>
        <p:spPr>
          <a:xfrm>
            <a:off x="838200" y="5131837"/>
            <a:ext cx="10515600" cy="1045126"/>
          </a:xfrm>
        </p:spPr>
        <p:txBody>
          <a:bodyPr/>
          <a:lstStyle/>
          <a:p>
            <a:endParaRPr lang="en-US" dirty="0"/>
          </a:p>
        </p:txBody>
      </p:sp>
      <p:pic>
        <p:nvPicPr>
          <p:cNvPr id="5" name="Picture 4">
            <a:extLst>
              <a:ext uri="{FF2B5EF4-FFF2-40B4-BE49-F238E27FC236}">
                <a16:creationId xmlns:a16="http://schemas.microsoft.com/office/drawing/2014/main" id="{5CF0FA07-2083-4ECA-9D76-DE0742514BA7}"/>
              </a:ext>
            </a:extLst>
          </p:cNvPr>
          <p:cNvPicPr>
            <a:picLocks noChangeAspect="1"/>
          </p:cNvPicPr>
          <p:nvPr/>
        </p:nvPicPr>
        <p:blipFill rotWithShape="1">
          <a:blip r:embed="rId3"/>
          <a:srcRect t="16582" b="9911"/>
          <a:stretch/>
        </p:blipFill>
        <p:spPr>
          <a:xfrm>
            <a:off x="186612" y="1138335"/>
            <a:ext cx="12192000" cy="5038628"/>
          </a:xfrm>
          <a:prstGeom prst="rect">
            <a:avLst/>
          </a:prstGeom>
        </p:spPr>
      </p:pic>
    </p:spTree>
    <p:extLst>
      <p:ext uri="{BB962C8B-B14F-4D97-AF65-F5344CB8AC3E}">
        <p14:creationId xmlns:p14="http://schemas.microsoft.com/office/powerpoint/2010/main" val="3412944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64DDD-DFCE-4F2C-96B1-AFBF55400FF2}"/>
              </a:ext>
            </a:extLst>
          </p:cNvPr>
          <p:cNvSpPr>
            <a:spLocks noGrp="1"/>
          </p:cNvSpPr>
          <p:nvPr>
            <p:ph type="title"/>
          </p:nvPr>
        </p:nvSpPr>
        <p:spPr/>
        <p:txBody>
          <a:bodyPr/>
          <a:lstStyle/>
          <a:p>
            <a:pPr algn="ctr"/>
            <a:r>
              <a:rPr lang="en-US" dirty="0"/>
              <a:t>What is </a:t>
            </a:r>
            <a:r>
              <a:rPr lang="en-US" dirty="0" err="1"/>
              <a:t>Github</a:t>
            </a:r>
            <a:r>
              <a:rPr lang="en-US" dirty="0"/>
              <a:t> used for?</a:t>
            </a:r>
          </a:p>
        </p:txBody>
      </p:sp>
      <p:sp>
        <p:nvSpPr>
          <p:cNvPr id="3" name="Content Placeholder 2">
            <a:extLst>
              <a:ext uri="{FF2B5EF4-FFF2-40B4-BE49-F238E27FC236}">
                <a16:creationId xmlns:a16="http://schemas.microsoft.com/office/drawing/2014/main" id="{F64F880B-EBE5-4421-9817-C608017F031D}"/>
              </a:ext>
            </a:extLst>
          </p:cNvPr>
          <p:cNvSpPr>
            <a:spLocks noGrp="1"/>
          </p:cNvSpPr>
          <p:nvPr>
            <p:ph idx="1"/>
          </p:nvPr>
        </p:nvSpPr>
        <p:spPr/>
        <p:txBody>
          <a:bodyPr>
            <a:normAutofit/>
          </a:bodyPr>
          <a:lstStyle/>
          <a:p>
            <a:r>
              <a:rPr lang="en-US" sz="3200" dirty="0"/>
              <a:t>Remote repository host</a:t>
            </a:r>
          </a:p>
          <a:p>
            <a:r>
              <a:rPr lang="en-US" sz="3200" dirty="0"/>
              <a:t>Cooperate and integrate development</a:t>
            </a:r>
          </a:p>
          <a:p>
            <a:r>
              <a:rPr lang="en-US" sz="3200" dirty="0"/>
              <a:t>Source code repertoire</a:t>
            </a:r>
          </a:p>
          <a:p>
            <a:r>
              <a:rPr lang="en-US" sz="3200" dirty="0"/>
              <a:t>Project management</a:t>
            </a:r>
          </a:p>
        </p:txBody>
      </p:sp>
    </p:spTree>
    <p:extLst>
      <p:ext uri="{BB962C8B-B14F-4D97-AF65-F5344CB8AC3E}">
        <p14:creationId xmlns:p14="http://schemas.microsoft.com/office/powerpoint/2010/main" val="21550676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4671</TotalTime>
  <Words>985</Words>
  <Application>Microsoft Office PowerPoint</Application>
  <PresentationFormat>Widescreen</PresentationFormat>
  <Paragraphs>69</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Develop Python pipeline: Version Control</vt:lpstr>
      <vt:lpstr>Version Control</vt:lpstr>
      <vt:lpstr>Release maintenance</vt:lpstr>
      <vt:lpstr>Version control system (VCS)</vt:lpstr>
      <vt:lpstr>git</vt:lpstr>
      <vt:lpstr>Git: manage source code</vt:lpstr>
      <vt:lpstr>Basic workflow using Git</vt:lpstr>
      <vt:lpstr>Initiate a local repository</vt:lpstr>
      <vt:lpstr>Conduct coding work and save changes</vt:lpstr>
      <vt:lpstr>Track changes</vt:lpstr>
      <vt:lpstr>Go back the old version</vt:lpstr>
      <vt:lpstr>Notes of Git</vt:lpstr>
      <vt:lpstr>Github</vt:lpstr>
      <vt:lpstr>What is Github used for?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 Python pipeline: Objects and Classes</dc:title>
  <dc:creator>Tiezheng Yuan</dc:creator>
  <cp:lastModifiedBy>Tiezheng Yuan</cp:lastModifiedBy>
  <cp:revision>100</cp:revision>
  <dcterms:created xsi:type="dcterms:W3CDTF">2020-01-31T22:01:04Z</dcterms:created>
  <dcterms:modified xsi:type="dcterms:W3CDTF">2020-02-07T19:36:39Z</dcterms:modified>
</cp:coreProperties>
</file>