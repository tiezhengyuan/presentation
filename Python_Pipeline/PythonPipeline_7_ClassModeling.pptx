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8" r:id="rId3"/>
    <p:sldId id="273" r:id="rId4"/>
    <p:sldId id="274" r:id="rId5"/>
    <p:sldId id="323" r:id="rId6"/>
    <p:sldId id="322" r:id="rId7"/>
    <p:sldId id="32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73878" autoAdjust="0"/>
  </p:normalViewPr>
  <p:slideViewPr>
    <p:cSldViewPr snapToGrid="0">
      <p:cViewPr varScale="1">
        <p:scale>
          <a:sx n="39" d="100"/>
          <a:sy n="39" d="100"/>
        </p:scale>
        <p:origin x="123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135E18-C188-4B80-9445-659122C614DD}" type="datetimeFigureOut">
              <a:rPr lang="en-US" smtClean="0"/>
              <a:t>2/5/2020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26EDF5-73A9-4F30-B1A6-8B6AF30FC97A}" type="slidenum">
              <a:rPr lang="en-US" smtClean="0"/>
              <a:t>‹#›</a:t>
            </a:fld>
            <a:endParaRPr lang="en-US"/>
          </a:p>
        </p:txBody>
      </p:sp>
    </p:spTree>
    <p:extLst>
      <p:ext uri="{BB962C8B-B14F-4D97-AF65-F5344CB8AC3E}">
        <p14:creationId xmlns:p14="http://schemas.microsoft.com/office/powerpoint/2010/main" val="1579761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Today I am going to introduce what is inheritance in Python.</a:t>
            </a:r>
          </a:p>
        </p:txBody>
      </p:sp>
      <p:sp>
        <p:nvSpPr>
          <p:cNvPr id="4" name="Slide Number Placeholder 3"/>
          <p:cNvSpPr>
            <a:spLocks noGrp="1"/>
          </p:cNvSpPr>
          <p:nvPr>
            <p:ph type="sldNum" sz="quarter" idx="5"/>
          </p:nvPr>
        </p:nvSpPr>
        <p:spPr/>
        <p:txBody>
          <a:bodyPr/>
          <a:lstStyle/>
          <a:p>
            <a:fld id="{E526EDF5-73A9-4F30-B1A6-8B6AF30FC97A}" type="slidenum">
              <a:rPr lang="en-US" smtClean="0"/>
              <a:t>1</a:t>
            </a:fld>
            <a:endParaRPr lang="en-US"/>
          </a:p>
        </p:txBody>
      </p:sp>
    </p:spTree>
    <p:extLst>
      <p:ext uri="{BB962C8B-B14F-4D97-AF65-F5344CB8AC3E}">
        <p14:creationId xmlns:p14="http://schemas.microsoft.com/office/powerpoint/2010/main" val="591540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26EDF5-73A9-4F30-B1A6-8B6AF30FC97A}" type="slidenum">
              <a:rPr lang="en-US" smtClean="0"/>
              <a:t>2</a:t>
            </a:fld>
            <a:endParaRPr lang="en-US"/>
          </a:p>
        </p:txBody>
      </p:sp>
    </p:spTree>
    <p:extLst>
      <p:ext uri="{BB962C8B-B14F-4D97-AF65-F5344CB8AC3E}">
        <p14:creationId xmlns:p14="http://schemas.microsoft.com/office/powerpoint/2010/main" val="3760723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 use case represents the steps of a particular business function or process. This use case diagram shows how a process of sample assay is finished from creating sample through delivering reports.</a:t>
            </a:r>
          </a:p>
        </p:txBody>
      </p:sp>
      <p:sp>
        <p:nvSpPr>
          <p:cNvPr id="4" name="Slide Number Placeholder 3"/>
          <p:cNvSpPr>
            <a:spLocks noGrp="1"/>
          </p:cNvSpPr>
          <p:nvPr>
            <p:ph type="sldNum" sz="quarter" idx="5"/>
          </p:nvPr>
        </p:nvSpPr>
        <p:spPr/>
        <p:txBody>
          <a:bodyPr/>
          <a:lstStyle/>
          <a:p>
            <a:fld id="{E526EDF5-73A9-4F30-B1A6-8B6AF30FC97A}" type="slidenum">
              <a:rPr lang="en-US" smtClean="0"/>
              <a:t>3</a:t>
            </a:fld>
            <a:endParaRPr lang="en-US"/>
          </a:p>
        </p:txBody>
      </p:sp>
    </p:spTree>
    <p:extLst>
      <p:ext uri="{BB962C8B-B14F-4D97-AF65-F5344CB8AC3E}">
        <p14:creationId xmlns:p14="http://schemas.microsoft.com/office/powerpoint/2010/main" val="5545605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diagram is so crucial for OO analysis.  Drawing class diagram should predate of coding work.</a:t>
            </a:r>
          </a:p>
        </p:txBody>
      </p:sp>
      <p:sp>
        <p:nvSpPr>
          <p:cNvPr id="4" name="Slide Number Placeholder 3"/>
          <p:cNvSpPr>
            <a:spLocks noGrp="1"/>
          </p:cNvSpPr>
          <p:nvPr>
            <p:ph type="sldNum" sz="quarter" idx="5"/>
          </p:nvPr>
        </p:nvSpPr>
        <p:spPr/>
        <p:txBody>
          <a:bodyPr/>
          <a:lstStyle/>
          <a:p>
            <a:fld id="{E526EDF5-73A9-4F30-B1A6-8B6AF30FC97A}" type="slidenum">
              <a:rPr lang="en-US" smtClean="0"/>
              <a:t>4</a:t>
            </a:fld>
            <a:endParaRPr lang="en-US"/>
          </a:p>
        </p:txBody>
      </p:sp>
    </p:spTree>
    <p:extLst>
      <p:ext uri="{BB962C8B-B14F-4D97-AF65-F5344CB8AC3E}">
        <p14:creationId xmlns:p14="http://schemas.microsoft.com/office/powerpoint/2010/main" val="6070131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 the same example. This class diagram shows all classes and objects involved in source code. There are three main functional modules. One is biomedical sample module, which organize samples and data. This one is human resource module, which relocate work load and control and monitor status. The last one is statistics modules, which carry out some summarization of relevant information. All functional modules work together for data integration and make the process of controlling and monitoring through sample life cycle.</a:t>
            </a:r>
          </a:p>
        </p:txBody>
      </p:sp>
      <p:sp>
        <p:nvSpPr>
          <p:cNvPr id="4" name="Slide Number Placeholder 3"/>
          <p:cNvSpPr>
            <a:spLocks noGrp="1"/>
          </p:cNvSpPr>
          <p:nvPr>
            <p:ph type="sldNum" sz="quarter" idx="5"/>
          </p:nvPr>
        </p:nvSpPr>
        <p:spPr/>
        <p:txBody>
          <a:bodyPr/>
          <a:lstStyle/>
          <a:p>
            <a:fld id="{2C6D5DA3-86FE-4BC1-843C-72D2E3343509}" type="slidenum">
              <a:rPr lang="zh-CN" altLang="en-US" smtClean="0"/>
              <a:pPr/>
              <a:t>6</a:t>
            </a:fld>
            <a:endParaRPr lang="zh-CN" altLang="en-US"/>
          </a:p>
        </p:txBody>
      </p:sp>
    </p:spTree>
    <p:extLst>
      <p:ext uri="{BB962C8B-B14F-4D97-AF65-F5344CB8AC3E}">
        <p14:creationId xmlns:p14="http://schemas.microsoft.com/office/powerpoint/2010/main" val="31529600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9CFBA-7278-4EB3-9731-0EC2CA6826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F4736D1-9549-46F6-82E7-ADBB83F78A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552AB9B-6AC1-4A4E-A922-525FB5EA0CD8}"/>
              </a:ext>
            </a:extLst>
          </p:cNvPr>
          <p:cNvSpPr>
            <a:spLocks noGrp="1"/>
          </p:cNvSpPr>
          <p:nvPr>
            <p:ph type="dt" sz="half" idx="10"/>
          </p:nvPr>
        </p:nvSpPr>
        <p:spPr/>
        <p:txBody>
          <a:bodyPr/>
          <a:lstStyle/>
          <a:p>
            <a:fld id="{01E01B02-CFB9-4BE7-AFFD-E66651E1C201}" type="datetimeFigureOut">
              <a:rPr lang="en-US" smtClean="0"/>
              <a:t>2/5/2020</a:t>
            </a:fld>
            <a:endParaRPr lang="en-US"/>
          </a:p>
        </p:txBody>
      </p:sp>
      <p:sp>
        <p:nvSpPr>
          <p:cNvPr id="5" name="Footer Placeholder 4">
            <a:extLst>
              <a:ext uri="{FF2B5EF4-FFF2-40B4-BE49-F238E27FC236}">
                <a16:creationId xmlns:a16="http://schemas.microsoft.com/office/drawing/2014/main" id="{18035F38-1F90-4E8A-A282-D9ED88CD8C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310FD0-81EB-48A4-9258-8398DE9F951D}"/>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1092680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291A9-88F4-4E90-8C13-8F233660FC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6DEEEA-3E05-42DF-9116-AE885F6EEE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835EB9-23F6-4C86-98BE-9E0C1425437B}"/>
              </a:ext>
            </a:extLst>
          </p:cNvPr>
          <p:cNvSpPr>
            <a:spLocks noGrp="1"/>
          </p:cNvSpPr>
          <p:nvPr>
            <p:ph type="dt" sz="half" idx="10"/>
          </p:nvPr>
        </p:nvSpPr>
        <p:spPr/>
        <p:txBody>
          <a:bodyPr/>
          <a:lstStyle/>
          <a:p>
            <a:fld id="{01E01B02-CFB9-4BE7-AFFD-E66651E1C201}" type="datetimeFigureOut">
              <a:rPr lang="en-US" smtClean="0"/>
              <a:t>2/5/2020</a:t>
            </a:fld>
            <a:endParaRPr lang="en-US"/>
          </a:p>
        </p:txBody>
      </p:sp>
      <p:sp>
        <p:nvSpPr>
          <p:cNvPr id="5" name="Footer Placeholder 4">
            <a:extLst>
              <a:ext uri="{FF2B5EF4-FFF2-40B4-BE49-F238E27FC236}">
                <a16:creationId xmlns:a16="http://schemas.microsoft.com/office/drawing/2014/main" id="{C4BFB126-880B-4535-91D3-24DE5315DE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282CE4-5F0D-492C-A7C4-573DFAFCCE64}"/>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979708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8834F-1BE7-44DD-8ED6-62700B61F1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9890E5A-F37E-43F8-9F2B-F1D5FFC2BC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72CB44-75A4-44D8-8DE6-2D637C175B7E}"/>
              </a:ext>
            </a:extLst>
          </p:cNvPr>
          <p:cNvSpPr>
            <a:spLocks noGrp="1"/>
          </p:cNvSpPr>
          <p:nvPr>
            <p:ph type="dt" sz="half" idx="10"/>
          </p:nvPr>
        </p:nvSpPr>
        <p:spPr/>
        <p:txBody>
          <a:bodyPr/>
          <a:lstStyle/>
          <a:p>
            <a:fld id="{01E01B02-CFB9-4BE7-AFFD-E66651E1C201}" type="datetimeFigureOut">
              <a:rPr lang="en-US" smtClean="0"/>
              <a:t>2/5/2020</a:t>
            </a:fld>
            <a:endParaRPr lang="en-US"/>
          </a:p>
        </p:txBody>
      </p:sp>
      <p:sp>
        <p:nvSpPr>
          <p:cNvPr id="5" name="Footer Placeholder 4">
            <a:extLst>
              <a:ext uri="{FF2B5EF4-FFF2-40B4-BE49-F238E27FC236}">
                <a16:creationId xmlns:a16="http://schemas.microsoft.com/office/drawing/2014/main" id="{D6A6318C-9B86-43AE-B62C-6798A7B943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5E21BB-7B39-442C-9A2F-A71606FE7831}"/>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719072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1CDE0-49EB-42CE-982C-3023921EC6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49870B-AB41-452D-AFE5-F9403D30FE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29CBAD-E0D3-4ABC-8395-1D54660963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2363517-E313-455F-8B5D-79410964A66E}"/>
              </a:ext>
            </a:extLst>
          </p:cNvPr>
          <p:cNvSpPr>
            <a:spLocks noGrp="1"/>
          </p:cNvSpPr>
          <p:nvPr>
            <p:ph type="dt" sz="half" idx="10"/>
          </p:nvPr>
        </p:nvSpPr>
        <p:spPr/>
        <p:txBody>
          <a:bodyPr/>
          <a:lstStyle/>
          <a:p>
            <a:fld id="{01E01B02-CFB9-4BE7-AFFD-E66651E1C201}" type="datetimeFigureOut">
              <a:rPr lang="en-US" smtClean="0"/>
              <a:t>2/5/2020</a:t>
            </a:fld>
            <a:endParaRPr lang="en-US"/>
          </a:p>
        </p:txBody>
      </p:sp>
      <p:sp>
        <p:nvSpPr>
          <p:cNvPr id="6" name="Footer Placeholder 5">
            <a:extLst>
              <a:ext uri="{FF2B5EF4-FFF2-40B4-BE49-F238E27FC236}">
                <a16:creationId xmlns:a16="http://schemas.microsoft.com/office/drawing/2014/main" id="{262CEB3E-7FD3-437B-8B84-4CBC8AB83C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575424-F69E-436B-8506-27D2346DFC9C}"/>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4208662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0A273-610E-4E32-8B8A-E52ABA77FE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67AA1A-186E-439C-9AA2-F0AE095D09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F6384C-C5F4-41E6-BB14-90EBDF9FA8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08F50F-49EA-4E8F-8608-A81C6D2D62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A6D8C2-9EFE-4B40-8009-3562B94C1A1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1551CB-552F-4203-B2CE-E93307BE5157}"/>
              </a:ext>
            </a:extLst>
          </p:cNvPr>
          <p:cNvSpPr>
            <a:spLocks noGrp="1"/>
          </p:cNvSpPr>
          <p:nvPr>
            <p:ph type="dt" sz="half" idx="10"/>
          </p:nvPr>
        </p:nvSpPr>
        <p:spPr/>
        <p:txBody>
          <a:bodyPr/>
          <a:lstStyle/>
          <a:p>
            <a:fld id="{01E01B02-CFB9-4BE7-AFFD-E66651E1C201}" type="datetimeFigureOut">
              <a:rPr lang="en-US" smtClean="0"/>
              <a:t>2/5/2020</a:t>
            </a:fld>
            <a:endParaRPr lang="en-US"/>
          </a:p>
        </p:txBody>
      </p:sp>
      <p:sp>
        <p:nvSpPr>
          <p:cNvPr id="8" name="Footer Placeholder 7">
            <a:extLst>
              <a:ext uri="{FF2B5EF4-FFF2-40B4-BE49-F238E27FC236}">
                <a16:creationId xmlns:a16="http://schemas.microsoft.com/office/drawing/2014/main" id="{5B259EAD-F69A-41DA-A5B4-F09581C303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3D2795-7649-472E-ACAC-21F7B92A6552}"/>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16889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68A0B-CD8C-41A2-87C4-5E84235B55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7477AC3-3055-4984-9A8E-C7DE52188D4E}"/>
              </a:ext>
            </a:extLst>
          </p:cNvPr>
          <p:cNvSpPr>
            <a:spLocks noGrp="1"/>
          </p:cNvSpPr>
          <p:nvPr>
            <p:ph type="dt" sz="half" idx="10"/>
          </p:nvPr>
        </p:nvSpPr>
        <p:spPr/>
        <p:txBody>
          <a:bodyPr/>
          <a:lstStyle/>
          <a:p>
            <a:fld id="{01E01B02-CFB9-4BE7-AFFD-E66651E1C201}" type="datetimeFigureOut">
              <a:rPr lang="en-US" smtClean="0"/>
              <a:t>2/5/2020</a:t>
            </a:fld>
            <a:endParaRPr lang="en-US"/>
          </a:p>
        </p:txBody>
      </p:sp>
      <p:sp>
        <p:nvSpPr>
          <p:cNvPr id="4" name="Footer Placeholder 3">
            <a:extLst>
              <a:ext uri="{FF2B5EF4-FFF2-40B4-BE49-F238E27FC236}">
                <a16:creationId xmlns:a16="http://schemas.microsoft.com/office/drawing/2014/main" id="{3B1D6781-3C95-4C3A-A642-6CBD598558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5CCA2B6-0F8A-4464-901A-E9DB3BD2056E}"/>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737958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6A254C-BB94-4794-BEA3-5FAF3195D497}"/>
              </a:ext>
            </a:extLst>
          </p:cNvPr>
          <p:cNvSpPr>
            <a:spLocks noGrp="1"/>
          </p:cNvSpPr>
          <p:nvPr>
            <p:ph type="dt" sz="half" idx="10"/>
          </p:nvPr>
        </p:nvSpPr>
        <p:spPr/>
        <p:txBody>
          <a:bodyPr/>
          <a:lstStyle/>
          <a:p>
            <a:fld id="{01E01B02-CFB9-4BE7-AFFD-E66651E1C201}" type="datetimeFigureOut">
              <a:rPr lang="en-US" smtClean="0"/>
              <a:t>2/5/2020</a:t>
            </a:fld>
            <a:endParaRPr lang="en-US"/>
          </a:p>
        </p:txBody>
      </p:sp>
      <p:sp>
        <p:nvSpPr>
          <p:cNvPr id="3" name="Footer Placeholder 2">
            <a:extLst>
              <a:ext uri="{FF2B5EF4-FFF2-40B4-BE49-F238E27FC236}">
                <a16:creationId xmlns:a16="http://schemas.microsoft.com/office/drawing/2014/main" id="{0F02BB9C-1134-4BC3-8260-BA2B6F56AE4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30D7066-657E-48BA-9404-359D9CC51EA1}"/>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1078036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FF829-3243-4B52-8281-E9DDA1F38B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154CC9-3699-44C0-89DC-687A8006B0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A442CF5-67A5-4DBF-83FB-3ECFBB4887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510D33-C28F-41CB-9D79-0DF80EEBA07A}"/>
              </a:ext>
            </a:extLst>
          </p:cNvPr>
          <p:cNvSpPr>
            <a:spLocks noGrp="1"/>
          </p:cNvSpPr>
          <p:nvPr>
            <p:ph type="dt" sz="half" idx="10"/>
          </p:nvPr>
        </p:nvSpPr>
        <p:spPr/>
        <p:txBody>
          <a:bodyPr/>
          <a:lstStyle/>
          <a:p>
            <a:fld id="{01E01B02-CFB9-4BE7-AFFD-E66651E1C201}" type="datetimeFigureOut">
              <a:rPr lang="en-US" smtClean="0"/>
              <a:t>2/5/2020</a:t>
            </a:fld>
            <a:endParaRPr lang="en-US"/>
          </a:p>
        </p:txBody>
      </p:sp>
      <p:sp>
        <p:nvSpPr>
          <p:cNvPr id="6" name="Footer Placeholder 5">
            <a:extLst>
              <a:ext uri="{FF2B5EF4-FFF2-40B4-BE49-F238E27FC236}">
                <a16:creationId xmlns:a16="http://schemas.microsoft.com/office/drawing/2014/main" id="{79AC33DC-C239-4AF8-9D1E-E779E15D02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66A338-41FE-4734-B552-5C90AA02B884}"/>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057788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83626-38EC-40FC-81BC-1065A1D106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D82D3D4-8C98-4F89-A194-5314F44C4B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3BBCA05-EAE4-4A75-9B5F-29F22B4FC9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650693-A768-4B8B-9F75-109A0C237031}"/>
              </a:ext>
            </a:extLst>
          </p:cNvPr>
          <p:cNvSpPr>
            <a:spLocks noGrp="1"/>
          </p:cNvSpPr>
          <p:nvPr>
            <p:ph type="dt" sz="half" idx="10"/>
          </p:nvPr>
        </p:nvSpPr>
        <p:spPr/>
        <p:txBody>
          <a:bodyPr/>
          <a:lstStyle/>
          <a:p>
            <a:fld id="{01E01B02-CFB9-4BE7-AFFD-E66651E1C201}" type="datetimeFigureOut">
              <a:rPr lang="en-US" smtClean="0"/>
              <a:t>2/5/2020</a:t>
            </a:fld>
            <a:endParaRPr lang="en-US"/>
          </a:p>
        </p:txBody>
      </p:sp>
      <p:sp>
        <p:nvSpPr>
          <p:cNvPr id="6" name="Footer Placeholder 5">
            <a:extLst>
              <a:ext uri="{FF2B5EF4-FFF2-40B4-BE49-F238E27FC236}">
                <a16:creationId xmlns:a16="http://schemas.microsoft.com/office/drawing/2014/main" id="{72705722-A632-4957-BEFD-CA108BB95F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7034C4-659F-4689-A76E-263606490B10}"/>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271709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064A0-DAE7-497D-A81A-04DDA7D2DD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1C56EF7-54F1-4ABB-8450-E287FA405D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0116C4-249A-4AED-8C24-8A13F2A93BAF}"/>
              </a:ext>
            </a:extLst>
          </p:cNvPr>
          <p:cNvSpPr>
            <a:spLocks noGrp="1"/>
          </p:cNvSpPr>
          <p:nvPr>
            <p:ph type="dt" sz="half" idx="10"/>
          </p:nvPr>
        </p:nvSpPr>
        <p:spPr/>
        <p:txBody>
          <a:bodyPr/>
          <a:lstStyle/>
          <a:p>
            <a:fld id="{01E01B02-CFB9-4BE7-AFFD-E66651E1C201}" type="datetimeFigureOut">
              <a:rPr lang="en-US" smtClean="0"/>
              <a:t>2/5/2020</a:t>
            </a:fld>
            <a:endParaRPr lang="en-US"/>
          </a:p>
        </p:txBody>
      </p:sp>
      <p:sp>
        <p:nvSpPr>
          <p:cNvPr id="5" name="Footer Placeholder 4">
            <a:extLst>
              <a:ext uri="{FF2B5EF4-FFF2-40B4-BE49-F238E27FC236}">
                <a16:creationId xmlns:a16="http://schemas.microsoft.com/office/drawing/2014/main" id="{36B953A9-6C7F-4A0D-BC4B-77B717ABBF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6677AD-112F-4BFB-85B0-28EC54B6413B}"/>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812797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B193EE-D243-4226-9CE6-3A107A0763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5420C8-2A2C-4D59-BB85-A9122D7066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7D92ED-73E0-43F9-9659-5926218A1612}"/>
              </a:ext>
            </a:extLst>
          </p:cNvPr>
          <p:cNvSpPr>
            <a:spLocks noGrp="1"/>
          </p:cNvSpPr>
          <p:nvPr>
            <p:ph type="dt" sz="half" idx="10"/>
          </p:nvPr>
        </p:nvSpPr>
        <p:spPr/>
        <p:txBody>
          <a:bodyPr/>
          <a:lstStyle/>
          <a:p>
            <a:fld id="{01E01B02-CFB9-4BE7-AFFD-E66651E1C201}" type="datetimeFigureOut">
              <a:rPr lang="en-US" smtClean="0"/>
              <a:t>2/5/2020</a:t>
            </a:fld>
            <a:endParaRPr lang="en-US"/>
          </a:p>
        </p:txBody>
      </p:sp>
      <p:sp>
        <p:nvSpPr>
          <p:cNvPr id="5" name="Footer Placeholder 4">
            <a:extLst>
              <a:ext uri="{FF2B5EF4-FFF2-40B4-BE49-F238E27FC236}">
                <a16:creationId xmlns:a16="http://schemas.microsoft.com/office/drawing/2014/main" id="{E5D28322-7817-470B-8A6B-F1D434BA26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82E6F2-BB4F-4B52-B4EE-179AE8CDF7D2}"/>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2250448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AAFC31-B832-4BF1-B059-70054D1400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B561D12-50BE-4FF9-957D-5A61FFDA85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20FBD4-EC49-4302-9342-57454FC6B2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E01B02-CFB9-4BE7-AFFD-E66651E1C201}" type="datetimeFigureOut">
              <a:rPr lang="en-US" smtClean="0"/>
              <a:t>2/5/2020</a:t>
            </a:fld>
            <a:endParaRPr lang="en-US"/>
          </a:p>
        </p:txBody>
      </p:sp>
      <p:sp>
        <p:nvSpPr>
          <p:cNvPr id="5" name="Footer Placeholder 4">
            <a:extLst>
              <a:ext uri="{FF2B5EF4-FFF2-40B4-BE49-F238E27FC236}">
                <a16:creationId xmlns:a16="http://schemas.microsoft.com/office/drawing/2014/main" id="{DC89B591-E304-4539-84E8-50F8F85809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96072A4-F25A-4550-BEDC-84064985EA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B8275-B259-402B-84A9-4510FAEE6AEF}" type="slidenum">
              <a:rPr lang="en-US" smtClean="0"/>
              <a:t>‹#›</a:t>
            </a:fld>
            <a:endParaRPr lang="en-US"/>
          </a:p>
        </p:txBody>
      </p:sp>
    </p:spTree>
    <p:extLst>
      <p:ext uri="{BB962C8B-B14F-4D97-AF65-F5344CB8AC3E}">
        <p14:creationId xmlns:p14="http://schemas.microsoft.com/office/powerpoint/2010/main" val="35715460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1458A-1DC2-4BD0-80E7-B5B1D2F0350F}"/>
              </a:ext>
            </a:extLst>
          </p:cNvPr>
          <p:cNvSpPr>
            <a:spLocks noGrp="1"/>
          </p:cNvSpPr>
          <p:nvPr>
            <p:ph type="ctrTitle"/>
          </p:nvPr>
        </p:nvSpPr>
        <p:spPr/>
        <p:txBody>
          <a:bodyPr>
            <a:normAutofit/>
          </a:bodyPr>
          <a:lstStyle/>
          <a:p>
            <a:r>
              <a:rPr lang="en-US" dirty="0"/>
              <a:t>Develop Python pipeline:</a:t>
            </a:r>
            <a:br>
              <a:rPr lang="en-US" dirty="0"/>
            </a:br>
            <a:r>
              <a:rPr lang="en-US" dirty="0"/>
              <a:t>Class modeling</a:t>
            </a:r>
          </a:p>
        </p:txBody>
      </p:sp>
      <p:sp>
        <p:nvSpPr>
          <p:cNvPr id="3" name="Subtitle 2">
            <a:extLst>
              <a:ext uri="{FF2B5EF4-FFF2-40B4-BE49-F238E27FC236}">
                <a16:creationId xmlns:a16="http://schemas.microsoft.com/office/drawing/2014/main" id="{5930F043-6162-49F5-A5C0-1CA1BC2BE72D}"/>
              </a:ext>
            </a:extLst>
          </p:cNvPr>
          <p:cNvSpPr>
            <a:spLocks noGrp="1"/>
          </p:cNvSpPr>
          <p:nvPr>
            <p:ph type="subTitle" idx="1"/>
          </p:nvPr>
        </p:nvSpPr>
        <p:spPr>
          <a:xfrm>
            <a:off x="1524000" y="4235116"/>
            <a:ext cx="9144000" cy="1022684"/>
          </a:xfrm>
        </p:spPr>
        <p:txBody>
          <a:bodyPr/>
          <a:lstStyle/>
          <a:p>
            <a:r>
              <a:rPr lang="en-US" dirty="0"/>
              <a:t>Tiezheng Yuan</a:t>
            </a:r>
          </a:p>
          <a:p>
            <a:r>
              <a:rPr lang="en-US" dirty="0"/>
              <a:t>Feb 05, 2020</a:t>
            </a:r>
          </a:p>
        </p:txBody>
      </p:sp>
    </p:spTree>
    <p:extLst>
      <p:ext uri="{BB962C8B-B14F-4D97-AF65-F5344CB8AC3E}">
        <p14:creationId xmlns:p14="http://schemas.microsoft.com/office/powerpoint/2010/main" val="2805599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9BEF9-398D-40DC-8C97-248AEB2CE52A}"/>
              </a:ext>
            </a:extLst>
          </p:cNvPr>
          <p:cNvSpPr>
            <a:spLocks noGrp="1"/>
          </p:cNvSpPr>
          <p:nvPr>
            <p:ph type="title"/>
          </p:nvPr>
        </p:nvSpPr>
        <p:spPr/>
        <p:txBody>
          <a:bodyPr/>
          <a:lstStyle/>
          <a:p>
            <a:pPr algn="ctr"/>
            <a:r>
              <a:rPr lang="en-US" dirty="0"/>
              <a:t>Class modeling or object modeling</a:t>
            </a:r>
          </a:p>
        </p:txBody>
      </p:sp>
      <p:sp>
        <p:nvSpPr>
          <p:cNvPr id="3" name="Content Placeholder 2">
            <a:extLst>
              <a:ext uri="{FF2B5EF4-FFF2-40B4-BE49-F238E27FC236}">
                <a16:creationId xmlns:a16="http://schemas.microsoft.com/office/drawing/2014/main" id="{D042904E-5B2A-42E8-8042-C4F9429711E6}"/>
              </a:ext>
            </a:extLst>
          </p:cNvPr>
          <p:cNvSpPr>
            <a:spLocks noGrp="1"/>
          </p:cNvSpPr>
          <p:nvPr>
            <p:ph idx="1"/>
          </p:nvPr>
        </p:nvSpPr>
        <p:spPr>
          <a:xfrm>
            <a:off x="838200" y="1825625"/>
            <a:ext cx="10515600" cy="4667250"/>
          </a:xfrm>
        </p:spPr>
        <p:txBody>
          <a:bodyPr>
            <a:normAutofit/>
          </a:bodyPr>
          <a:lstStyle/>
          <a:p>
            <a:r>
              <a:rPr lang="en-US" sz="3200" dirty="0"/>
              <a:t>Object modelling is a process that represent a pipeline/software in terms of objects and O-O concepts.</a:t>
            </a:r>
          </a:p>
          <a:p>
            <a:r>
              <a:rPr lang="en-US" sz="3200" dirty="0"/>
              <a:t>In OOP, all things in real world are called objects, which are identified by particular attributes and methods.</a:t>
            </a:r>
          </a:p>
          <a:p>
            <a:r>
              <a:rPr lang="en-US" sz="3200" dirty="0"/>
              <a:t>UML (unified modeling language) is used for visualizing and documenting object modeling.</a:t>
            </a:r>
          </a:p>
          <a:p>
            <a:r>
              <a:rPr lang="en-US" sz="3200" dirty="0"/>
              <a:t>Visual tools:</a:t>
            </a:r>
            <a:br>
              <a:rPr lang="en-US" sz="3200" dirty="0"/>
            </a:br>
            <a:r>
              <a:rPr lang="en-US" sz="3200" dirty="0"/>
              <a:t>	use case modeling</a:t>
            </a:r>
            <a:br>
              <a:rPr lang="en-US" sz="3200" dirty="0"/>
            </a:br>
            <a:r>
              <a:rPr lang="en-US" sz="3200" dirty="0"/>
              <a:t>	class diagram</a:t>
            </a:r>
          </a:p>
        </p:txBody>
      </p:sp>
    </p:spTree>
    <p:extLst>
      <p:ext uri="{BB962C8B-B14F-4D97-AF65-F5344CB8AC3E}">
        <p14:creationId xmlns:p14="http://schemas.microsoft.com/office/powerpoint/2010/main" val="215641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9C466-D4A9-45DA-A541-B54A92746D38}"/>
              </a:ext>
            </a:extLst>
          </p:cNvPr>
          <p:cNvSpPr>
            <a:spLocks noGrp="1"/>
          </p:cNvSpPr>
          <p:nvPr>
            <p:ph type="title"/>
          </p:nvPr>
        </p:nvSpPr>
        <p:spPr/>
        <p:txBody>
          <a:bodyPr/>
          <a:lstStyle/>
          <a:p>
            <a:pPr algn="ctr"/>
            <a:r>
              <a:rPr lang="en-US" dirty="0"/>
              <a:t>Use case modeling</a:t>
            </a:r>
          </a:p>
        </p:txBody>
      </p:sp>
      <p:sp>
        <p:nvSpPr>
          <p:cNvPr id="3" name="Content Placeholder 2">
            <a:extLst>
              <a:ext uri="{FF2B5EF4-FFF2-40B4-BE49-F238E27FC236}">
                <a16:creationId xmlns:a16="http://schemas.microsoft.com/office/drawing/2014/main" id="{2A9BE625-58DA-4CAF-9AC0-C39BFBBAE191}"/>
              </a:ext>
            </a:extLst>
          </p:cNvPr>
          <p:cNvSpPr>
            <a:spLocks noGrp="1"/>
          </p:cNvSpPr>
          <p:nvPr>
            <p:ph idx="1"/>
          </p:nvPr>
        </p:nvSpPr>
        <p:spPr>
          <a:xfrm>
            <a:off x="460514" y="1602927"/>
            <a:ext cx="2421834" cy="3883473"/>
          </a:xfrm>
        </p:spPr>
        <p:txBody>
          <a:bodyPr>
            <a:normAutofit/>
          </a:bodyPr>
          <a:lstStyle/>
          <a:p>
            <a:r>
              <a:rPr lang="en-US" sz="3200" dirty="0"/>
              <a:t>A use case represents the steps of a particular business function or process.</a:t>
            </a:r>
          </a:p>
        </p:txBody>
      </p:sp>
      <p:pic>
        <p:nvPicPr>
          <p:cNvPr id="7" name="Picture 6">
            <a:extLst>
              <a:ext uri="{FF2B5EF4-FFF2-40B4-BE49-F238E27FC236}">
                <a16:creationId xmlns:a16="http://schemas.microsoft.com/office/drawing/2014/main" id="{56F46F67-3647-49DB-BFAD-096B26EE0151}"/>
              </a:ext>
            </a:extLst>
          </p:cNvPr>
          <p:cNvPicPr>
            <a:picLocks noChangeAspect="1"/>
          </p:cNvPicPr>
          <p:nvPr/>
        </p:nvPicPr>
        <p:blipFill rotWithShape="1">
          <a:blip r:embed="rId3">
            <a:extLst>
              <a:ext uri="{28A0092B-C50C-407E-A947-70E740481C1C}">
                <a14:useLocalDpi xmlns:a14="http://schemas.microsoft.com/office/drawing/2010/main" val="0"/>
              </a:ext>
            </a:extLst>
          </a:blip>
          <a:srcRect l="9103" r="10598" b="29305"/>
          <a:stretch/>
        </p:blipFill>
        <p:spPr>
          <a:xfrm>
            <a:off x="2882347" y="1690688"/>
            <a:ext cx="8771566" cy="4782309"/>
          </a:xfrm>
          <a:prstGeom prst="rect">
            <a:avLst/>
          </a:prstGeom>
        </p:spPr>
      </p:pic>
    </p:spTree>
    <p:extLst>
      <p:ext uri="{BB962C8B-B14F-4D97-AF65-F5344CB8AC3E}">
        <p14:creationId xmlns:p14="http://schemas.microsoft.com/office/powerpoint/2010/main" val="1700792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770ED-B4B6-4EB6-ADCB-DC4DD76142F2}"/>
              </a:ext>
            </a:extLst>
          </p:cNvPr>
          <p:cNvSpPr>
            <a:spLocks noGrp="1"/>
          </p:cNvSpPr>
          <p:nvPr>
            <p:ph type="title"/>
          </p:nvPr>
        </p:nvSpPr>
        <p:spPr/>
        <p:txBody>
          <a:bodyPr/>
          <a:lstStyle/>
          <a:p>
            <a:pPr algn="ctr"/>
            <a:r>
              <a:rPr lang="en-US" dirty="0"/>
              <a:t>Class diagram (CD)</a:t>
            </a:r>
          </a:p>
        </p:txBody>
      </p:sp>
      <p:sp>
        <p:nvSpPr>
          <p:cNvPr id="3" name="Content Placeholder 2">
            <a:extLst>
              <a:ext uri="{FF2B5EF4-FFF2-40B4-BE49-F238E27FC236}">
                <a16:creationId xmlns:a16="http://schemas.microsoft.com/office/drawing/2014/main" id="{59B4E786-B38F-41DE-AB2F-00E563FF427B}"/>
              </a:ext>
            </a:extLst>
          </p:cNvPr>
          <p:cNvSpPr>
            <a:spLocks noGrp="1"/>
          </p:cNvSpPr>
          <p:nvPr>
            <p:ph idx="1"/>
          </p:nvPr>
        </p:nvSpPr>
        <p:spPr>
          <a:xfrm>
            <a:off x="838200" y="1825625"/>
            <a:ext cx="10515600" cy="4667250"/>
          </a:xfrm>
        </p:spPr>
        <p:txBody>
          <a:bodyPr>
            <a:normAutofit/>
          </a:bodyPr>
          <a:lstStyle/>
          <a:p>
            <a:r>
              <a:rPr lang="en-US" sz="3200" dirty="0"/>
              <a:t>CD shows all objects and classes and their relationships involved in a user case.</a:t>
            </a:r>
          </a:p>
          <a:p>
            <a:r>
              <a:rPr lang="en-US" sz="3200" dirty="0"/>
              <a:t>CD should also include other objects such as data type or error exception and so on.</a:t>
            </a:r>
          </a:p>
          <a:p>
            <a:r>
              <a:rPr lang="en-US" sz="3200" dirty="0"/>
              <a:t>CD helps developers to conduct coding work, testing engineers to understand internal logic, business analysts to model the software from business perspective.</a:t>
            </a:r>
          </a:p>
          <a:p>
            <a:endParaRPr lang="en-US" sz="3200" dirty="0"/>
          </a:p>
        </p:txBody>
      </p:sp>
    </p:spTree>
    <p:extLst>
      <p:ext uri="{BB962C8B-B14F-4D97-AF65-F5344CB8AC3E}">
        <p14:creationId xmlns:p14="http://schemas.microsoft.com/office/powerpoint/2010/main" val="3556364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36A3D-5571-490D-95DD-1B1028BD3AFD}"/>
              </a:ext>
            </a:extLst>
          </p:cNvPr>
          <p:cNvSpPr>
            <a:spLocks noGrp="1"/>
          </p:cNvSpPr>
          <p:nvPr>
            <p:ph type="title"/>
          </p:nvPr>
        </p:nvSpPr>
        <p:spPr/>
        <p:txBody>
          <a:bodyPr/>
          <a:lstStyle/>
          <a:p>
            <a:pPr algn="ctr"/>
            <a:r>
              <a:rPr lang="en-US" dirty="0"/>
              <a:t>A good class diagram</a:t>
            </a:r>
          </a:p>
        </p:txBody>
      </p:sp>
      <p:sp>
        <p:nvSpPr>
          <p:cNvPr id="3" name="Content Placeholder 2">
            <a:extLst>
              <a:ext uri="{FF2B5EF4-FFF2-40B4-BE49-F238E27FC236}">
                <a16:creationId xmlns:a16="http://schemas.microsoft.com/office/drawing/2014/main" id="{DE2585D4-2A8C-4695-8702-581CB4177AE2}"/>
              </a:ext>
            </a:extLst>
          </p:cNvPr>
          <p:cNvSpPr>
            <a:spLocks noGrp="1"/>
          </p:cNvSpPr>
          <p:nvPr>
            <p:ph idx="1"/>
          </p:nvPr>
        </p:nvSpPr>
        <p:spPr/>
        <p:txBody>
          <a:bodyPr>
            <a:normAutofit/>
          </a:bodyPr>
          <a:lstStyle/>
          <a:p>
            <a:r>
              <a:rPr lang="en-US" sz="3200" dirty="0"/>
              <a:t>Involve all components: </a:t>
            </a:r>
            <a:br>
              <a:rPr lang="en-US" sz="3200" dirty="0"/>
            </a:br>
            <a:r>
              <a:rPr lang="en-US" sz="3200" dirty="0"/>
              <a:t>	class/objects</a:t>
            </a:r>
            <a:br>
              <a:rPr lang="en-US" sz="3200" dirty="0"/>
            </a:br>
            <a:r>
              <a:rPr lang="en-US" sz="3200" dirty="0"/>
              <a:t>	attributes and methods</a:t>
            </a:r>
          </a:p>
          <a:p>
            <a:r>
              <a:rPr lang="en-US" sz="3200" dirty="0"/>
              <a:t>Show relationship:</a:t>
            </a:r>
            <a:br>
              <a:rPr lang="en-US" sz="3200" dirty="0"/>
            </a:br>
            <a:r>
              <a:rPr lang="en-US" sz="3200" dirty="0"/>
              <a:t>inheritance</a:t>
            </a:r>
            <a:br>
              <a:rPr lang="en-US" sz="3200" dirty="0"/>
            </a:br>
            <a:r>
              <a:rPr lang="en-US" sz="3200" dirty="0"/>
              <a:t>aggregation</a:t>
            </a:r>
            <a:br>
              <a:rPr lang="en-US" sz="3200" dirty="0"/>
            </a:br>
            <a:r>
              <a:rPr lang="en-US" sz="3200" dirty="0"/>
              <a:t>composition</a:t>
            </a:r>
            <a:br>
              <a:rPr lang="en-US" sz="3200" dirty="0"/>
            </a:br>
            <a:r>
              <a:rPr lang="en-US" sz="3200" dirty="0"/>
              <a:t>association</a:t>
            </a:r>
            <a:br>
              <a:rPr lang="en-US" sz="3200" dirty="0"/>
            </a:br>
            <a:r>
              <a:rPr lang="en-US" sz="3200" dirty="0"/>
              <a:t>dependency</a:t>
            </a:r>
          </a:p>
        </p:txBody>
      </p:sp>
    </p:spTree>
    <p:extLst>
      <p:ext uri="{BB962C8B-B14F-4D97-AF65-F5344CB8AC3E}">
        <p14:creationId xmlns:p14="http://schemas.microsoft.com/office/powerpoint/2010/main" val="2063677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A520ED6-B50C-447B-8011-A86D4CAB06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9696" y="74104"/>
            <a:ext cx="6022534" cy="6858000"/>
          </a:xfrm>
          <a:prstGeom prst="rect">
            <a:avLst/>
          </a:prstGeom>
        </p:spPr>
      </p:pic>
      <p:sp>
        <p:nvSpPr>
          <p:cNvPr id="6" name="Rectangle: Rounded Corners 5">
            <a:extLst>
              <a:ext uri="{FF2B5EF4-FFF2-40B4-BE49-F238E27FC236}">
                <a16:creationId xmlns:a16="http://schemas.microsoft.com/office/drawing/2014/main" id="{C1AE122E-D0A7-49E8-A489-8863989E0042}"/>
              </a:ext>
            </a:extLst>
          </p:cNvPr>
          <p:cNvSpPr/>
          <p:nvPr/>
        </p:nvSpPr>
        <p:spPr>
          <a:xfrm>
            <a:off x="5375920" y="620688"/>
            <a:ext cx="4104456" cy="6120680"/>
          </a:xfrm>
          <a:prstGeom prst="round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558F7A4B-C51F-458F-9280-B48785B10435}"/>
              </a:ext>
            </a:extLst>
          </p:cNvPr>
          <p:cNvSpPr/>
          <p:nvPr/>
        </p:nvSpPr>
        <p:spPr>
          <a:xfrm>
            <a:off x="2999657" y="3429001"/>
            <a:ext cx="3888431" cy="3414183"/>
          </a:xfrm>
          <a:prstGeom prst="round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Rounded Corners 7">
            <a:extLst>
              <a:ext uri="{FF2B5EF4-FFF2-40B4-BE49-F238E27FC236}">
                <a16:creationId xmlns:a16="http://schemas.microsoft.com/office/drawing/2014/main" id="{E8AD002A-55B2-473C-9DC9-7FBE8DCD1972}"/>
              </a:ext>
            </a:extLst>
          </p:cNvPr>
          <p:cNvSpPr/>
          <p:nvPr/>
        </p:nvSpPr>
        <p:spPr>
          <a:xfrm>
            <a:off x="2999657" y="1"/>
            <a:ext cx="2929825" cy="3414183"/>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7A7D80C9-7819-4745-84B5-5129FEB40AA7}"/>
              </a:ext>
            </a:extLst>
          </p:cNvPr>
          <p:cNvSpPr txBox="1"/>
          <p:nvPr/>
        </p:nvSpPr>
        <p:spPr>
          <a:xfrm>
            <a:off x="8201560" y="1278610"/>
            <a:ext cx="1981568" cy="1384995"/>
          </a:xfrm>
          <a:prstGeom prst="rect">
            <a:avLst/>
          </a:prstGeom>
          <a:noFill/>
        </p:spPr>
        <p:txBody>
          <a:bodyPr wrap="none" rtlCol="0">
            <a:spAutoFit/>
          </a:bodyPr>
          <a:lstStyle/>
          <a:p>
            <a:r>
              <a:rPr lang="en-US" sz="2800" dirty="0"/>
              <a:t>Biomedical</a:t>
            </a:r>
          </a:p>
          <a:p>
            <a:r>
              <a:rPr lang="en-US" sz="2800" dirty="0"/>
              <a:t>sample</a:t>
            </a:r>
          </a:p>
          <a:p>
            <a:r>
              <a:rPr lang="en-US" sz="2800" dirty="0"/>
              <a:t>organization</a:t>
            </a:r>
          </a:p>
        </p:txBody>
      </p:sp>
      <p:sp>
        <p:nvSpPr>
          <p:cNvPr id="10" name="TextBox 9">
            <a:extLst>
              <a:ext uri="{FF2B5EF4-FFF2-40B4-BE49-F238E27FC236}">
                <a16:creationId xmlns:a16="http://schemas.microsoft.com/office/drawing/2014/main" id="{46F29326-D069-4499-81E0-CDF666E1E195}"/>
              </a:ext>
            </a:extLst>
          </p:cNvPr>
          <p:cNvSpPr txBox="1"/>
          <p:nvPr/>
        </p:nvSpPr>
        <p:spPr>
          <a:xfrm>
            <a:off x="1635717" y="5542916"/>
            <a:ext cx="1606658" cy="954107"/>
          </a:xfrm>
          <a:prstGeom prst="rect">
            <a:avLst/>
          </a:prstGeom>
          <a:noFill/>
        </p:spPr>
        <p:txBody>
          <a:bodyPr wrap="none" rtlCol="0">
            <a:spAutoFit/>
          </a:bodyPr>
          <a:lstStyle/>
          <a:p>
            <a:r>
              <a:rPr lang="en-US" sz="2800" dirty="0"/>
              <a:t>Resource</a:t>
            </a:r>
          </a:p>
          <a:p>
            <a:r>
              <a:rPr lang="en-US" sz="2800" dirty="0"/>
              <a:t>allocation</a:t>
            </a:r>
          </a:p>
        </p:txBody>
      </p:sp>
      <p:sp>
        <p:nvSpPr>
          <p:cNvPr id="11" name="TextBox 10">
            <a:extLst>
              <a:ext uri="{FF2B5EF4-FFF2-40B4-BE49-F238E27FC236}">
                <a16:creationId xmlns:a16="http://schemas.microsoft.com/office/drawing/2014/main" id="{99D8C079-3C75-4B2B-BBFE-0E81F4D2CDCA}"/>
              </a:ext>
            </a:extLst>
          </p:cNvPr>
          <p:cNvSpPr txBox="1"/>
          <p:nvPr/>
        </p:nvSpPr>
        <p:spPr>
          <a:xfrm>
            <a:off x="1508031" y="360235"/>
            <a:ext cx="2433358" cy="954107"/>
          </a:xfrm>
          <a:prstGeom prst="rect">
            <a:avLst/>
          </a:prstGeom>
          <a:noFill/>
        </p:spPr>
        <p:txBody>
          <a:bodyPr wrap="none" rtlCol="0">
            <a:spAutoFit/>
          </a:bodyPr>
          <a:lstStyle/>
          <a:p>
            <a:r>
              <a:rPr lang="en-US" sz="2800" dirty="0"/>
              <a:t>Summarization</a:t>
            </a:r>
          </a:p>
          <a:p>
            <a:r>
              <a:rPr lang="en-US" sz="2800" dirty="0"/>
              <a:t>and monitoring</a:t>
            </a:r>
          </a:p>
        </p:txBody>
      </p:sp>
    </p:spTree>
    <p:extLst>
      <p:ext uri="{BB962C8B-B14F-4D97-AF65-F5344CB8AC3E}">
        <p14:creationId xmlns:p14="http://schemas.microsoft.com/office/powerpoint/2010/main" val="2307135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36A3D-5571-490D-95DD-1B1028BD3AFD}"/>
              </a:ext>
            </a:extLst>
          </p:cNvPr>
          <p:cNvSpPr>
            <a:spLocks noGrp="1"/>
          </p:cNvSpPr>
          <p:nvPr>
            <p:ph type="title"/>
          </p:nvPr>
        </p:nvSpPr>
        <p:spPr/>
        <p:txBody>
          <a:bodyPr/>
          <a:lstStyle/>
          <a:p>
            <a:pPr algn="ctr"/>
            <a:r>
              <a:rPr lang="en-US" dirty="0"/>
              <a:t>Weakness of class diagram</a:t>
            </a:r>
          </a:p>
        </p:txBody>
      </p:sp>
      <p:sp>
        <p:nvSpPr>
          <p:cNvPr id="3" name="Content Placeholder 2">
            <a:extLst>
              <a:ext uri="{FF2B5EF4-FFF2-40B4-BE49-F238E27FC236}">
                <a16:creationId xmlns:a16="http://schemas.microsoft.com/office/drawing/2014/main" id="{DE2585D4-2A8C-4695-8702-581CB4177AE2}"/>
              </a:ext>
            </a:extLst>
          </p:cNvPr>
          <p:cNvSpPr>
            <a:spLocks noGrp="1"/>
          </p:cNvSpPr>
          <p:nvPr>
            <p:ph idx="1"/>
          </p:nvPr>
        </p:nvSpPr>
        <p:spPr>
          <a:xfrm>
            <a:off x="838200" y="1530626"/>
            <a:ext cx="10515600" cy="4962249"/>
          </a:xfrm>
        </p:spPr>
        <p:txBody>
          <a:bodyPr>
            <a:normAutofit/>
          </a:bodyPr>
          <a:lstStyle/>
          <a:p>
            <a:r>
              <a:rPr lang="en-US" sz="3200" dirty="0"/>
              <a:t>Some rough description of class/object modeling for more complicated class architecture because it is hard to squeeze all classes into one page.</a:t>
            </a:r>
          </a:p>
          <a:p>
            <a:r>
              <a:rPr lang="en-US" sz="3200" dirty="0"/>
              <a:t>Class diagram could be out of date in a long-term Agile because some requirements may not be clarified at the beginning.</a:t>
            </a:r>
          </a:p>
          <a:p>
            <a:r>
              <a:rPr lang="en-US" sz="3200" dirty="0"/>
              <a:t>Sterling class  diagram depends on experience of analyst. Incomplete class diagram may confuse later coding work.</a:t>
            </a:r>
          </a:p>
          <a:p>
            <a:r>
              <a:rPr lang="en-US" sz="3200" dirty="0"/>
              <a:t>It is a typical Object-Oriented tool.  A class diagram might not fit well </a:t>
            </a:r>
            <a:r>
              <a:rPr lang="en-US" sz="3200"/>
              <a:t>with the </a:t>
            </a:r>
            <a:r>
              <a:rPr lang="en-US" sz="3200" dirty="0"/>
              <a:t>functionalities of a Python pipeline.</a:t>
            </a:r>
          </a:p>
        </p:txBody>
      </p:sp>
    </p:spTree>
    <p:extLst>
      <p:ext uri="{BB962C8B-B14F-4D97-AF65-F5344CB8AC3E}">
        <p14:creationId xmlns:p14="http://schemas.microsoft.com/office/powerpoint/2010/main" val="16303964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1972</TotalTime>
  <Words>456</Words>
  <Application>Microsoft Office PowerPoint</Application>
  <PresentationFormat>Widescreen</PresentationFormat>
  <Paragraphs>38</Paragraphs>
  <Slides>7</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Develop Python pipeline: Class modeling</vt:lpstr>
      <vt:lpstr>Class modeling or object modeling</vt:lpstr>
      <vt:lpstr>Use case modeling</vt:lpstr>
      <vt:lpstr>Class diagram (CD)</vt:lpstr>
      <vt:lpstr>A good class diagram</vt:lpstr>
      <vt:lpstr>PowerPoint Presentation</vt:lpstr>
      <vt:lpstr>Weakness of class diagram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 Python pipeline: Objects and Classes</dc:title>
  <dc:creator>Tiezheng Yuan</dc:creator>
  <cp:lastModifiedBy>Tiezheng Yuan</cp:lastModifiedBy>
  <cp:revision>61</cp:revision>
  <dcterms:created xsi:type="dcterms:W3CDTF">2020-01-31T22:01:04Z</dcterms:created>
  <dcterms:modified xsi:type="dcterms:W3CDTF">2020-02-05T19:59:55Z</dcterms:modified>
</cp:coreProperties>
</file>