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7" r:id="rId4"/>
    <p:sldId id="263" r:id="rId5"/>
    <p:sldId id="259" r:id="rId6"/>
    <p:sldId id="262" r:id="rId7"/>
    <p:sldId id="260"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73878" autoAdjust="0"/>
  </p:normalViewPr>
  <p:slideViewPr>
    <p:cSldViewPr snapToGrid="0">
      <p:cViewPr varScale="1">
        <p:scale>
          <a:sx n="39" d="100"/>
          <a:sy n="39" d="100"/>
        </p:scale>
        <p:origin x="51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35E18-C188-4B80-9445-659122C614DD}" type="datetimeFigureOut">
              <a:rPr lang="en-US" smtClean="0"/>
              <a:t>1/31/2020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6EDF5-73A9-4F30-B1A6-8B6AF30FC97A}" type="slidenum">
              <a:rPr lang="en-US" smtClean="0"/>
              <a:t>‹#›</a:t>
            </a:fld>
            <a:endParaRPr lang="en-US"/>
          </a:p>
        </p:txBody>
      </p:sp>
    </p:spTree>
    <p:extLst>
      <p:ext uri="{BB962C8B-B14F-4D97-AF65-F5344CB8AC3E}">
        <p14:creationId xmlns:p14="http://schemas.microsoft.com/office/powerpoint/2010/main" val="157976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going to introduce what is inheritance in Python.</a:t>
            </a:r>
          </a:p>
        </p:txBody>
      </p:sp>
      <p:sp>
        <p:nvSpPr>
          <p:cNvPr id="4" name="Slide Number Placeholder 3"/>
          <p:cNvSpPr>
            <a:spLocks noGrp="1"/>
          </p:cNvSpPr>
          <p:nvPr>
            <p:ph type="sldNum" sz="quarter" idx="5"/>
          </p:nvPr>
        </p:nvSpPr>
        <p:spPr/>
        <p:txBody>
          <a:bodyPr/>
          <a:lstStyle/>
          <a:p>
            <a:fld id="{E526EDF5-73A9-4F30-B1A6-8B6AF30FC97A}" type="slidenum">
              <a:rPr lang="en-US" smtClean="0"/>
              <a:t>1</a:t>
            </a:fld>
            <a:endParaRPr lang="en-US"/>
          </a:p>
        </p:txBody>
      </p:sp>
    </p:spTree>
    <p:extLst>
      <p:ext uri="{BB962C8B-B14F-4D97-AF65-F5344CB8AC3E}">
        <p14:creationId xmlns:p14="http://schemas.microsoft.com/office/powerpoint/2010/main" val="5915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inheritance</a:t>
            </a:r>
          </a:p>
        </p:txBody>
      </p:sp>
      <p:sp>
        <p:nvSpPr>
          <p:cNvPr id="4" name="Slide Number Placeholder 3"/>
          <p:cNvSpPr>
            <a:spLocks noGrp="1"/>
          </p:cNvSpPr>
          <p:nvPr>
            <p:ph type="sldNum" sz="quarter" idx="5"/>
          </p:nvPr>
        </p:nvSpPr>
        <p:spPr/>
        <p:txBody>
          <a:bodyPr/>
          <a:lstStyle/>
          <a:p>
            <a:fld id="{E526EDF5-73A9-4F30-B1A6-8B6AF30FC97A}" type="slidenum">
              <a:rPr lang="en-US" smtClean="0"/>
              <a:t>2</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example of inheritance. The class car is parent class. And two children classes inherited attributes and methods from the parent class Car, and both of them own their specific attributes and methods.</a:t>
            </a:r>
          </a:p>
        </p:txBody>
      </p:sp>
      <p:sp>
        <p:nvSpPr>
          <p:cNvPr id="4" name="Slide Number Placeholder 3"/>
          <p:cNvSpPr>
            <a:spLocks noGrp="1"/>
          </p:cNvSpPr>
          <p:nvPr>
            <p:ph type="sldNum" sz="quarter" idx="5"/>
          </p:nvPr>
        </p:nvSpPr>
        <p:spPr/>
        <p:txBody>
          <a:bodyPr/>
          <a:lstStyle/>
          <a:p>
            <a:fld id="{E526EDF5-73A9-4F30-B1A6-8B6AF30FC97A}" type="slidenum">
              <a:rPr lang="en-US" smtClean="0"/>
              <a:t>3</a:t>
            </a:fld>
            <a:endParaRPr lang="en-US"/>
          </a:p>
        </p:txBody>
      </p:sp>
    </p:spTree>
    <p:extLst>
      <p:ext uri="{BB962C8B-B14F-4D97-AF65-F5344CB8AC3E}">
        <p14:creationId xmlns:p14="http://schemas.microsoft.com/office/powerpoint/2010/main" val="3561190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basic example of inheritance. The class molecular is parent class. And two children classes DNA and RNA. They inherited attributes and methods from the parent class.</a:t>
            </a:r>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1221467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basic example of inheritance usage in Python. This is parent class known as molecular. One attribute is molecular sequence known as </a:t>
            </a:r>
            <a:r>
              <a:rPr lang="en-US" dirty="0" err="1"/>
              <a:t>molSeq</a:t>
            </a:r>
            <a:r>
              <a:rPr lang="en-US" dirty="0"/>
              <a:t>. And one method is used for calculating the length of the sequence.</a:t>
            </a:r>
          </a:p>
        </p:txBody>
      </p:sp>
      <p:sp>
        <p:nvSpPr>
          <p:cNvPr id="4" name="Slide Number Placeholder 3"/>
          <p:cNvSpPr>
            <a:spLocks noGrp="1"/>
          </p:cNvSpPr>
          <p:nvPr>
            <p:ph type="sldNum" sz="quarter" idx="5"/>
          </p:nvPr>
        </p:nvSpPr>
        <p:spPr/>
        <p:txBody>
          <a:bodyPr/>
          <a:lstStyle/>
          <a:p>
            <a:fld id="{E526EDF5-73A9-4F30-B1A6-8B6AF30FC97A}" type="slidenum">
              <a:rPr lang="en-US" smtClean="0"/>
              <a:t>5</a:t>
            </a:fld>
            <a:endParaRPr lang="en-US"/>
          </a:p>
        </p:txBody>
      </p:sp>
    </p:spTree>
    <p:extLst>
      <p:ext uri="{BB962C8B-B14F-4D97-AF65-F5344CB8AC3E}">
        <p14:creationId xmlns:p14="http://schemas.microsoft.com/office/powerpoint/2010/main" val="745484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is two children classes known as DNA and RNA, respectively. </a:t>
            </a:r>
          </a:p>
          <a:p>
            <a:r>
              <a:rPr lang="en-US" dirty="0"/>
              <a:t>The syntax is class prefix + </a:t>
            </a:r>
            <a:r>
              <a:rPr lang="en-US" dirty="0" err="1"/>
              <a:t>class_name</a:t>
            </a:r>
            <a:r>
              <a:rPr lang="en-US" dirty="0"/>
              <a:t> followed by parent class name encompass by brackets</a:t>
            </a:r>
          </a:p>
          <a:p>
            <a:r>
              <a:rPr lang="en-US" dirty="0"/>
              <a:t>Both of the children classes inherited all attributes and methods of their parent class. </a:t>
            </a:r>
          </a:p>
        </p:txBody>
      </p:sp>
      <p:sp>
        <p:nvSpPr>
          <p:cNvPr id="4" name="Slide Number Placeholder 3"/>
          <p:cNvSpPr>
            <a:spLocks noGrp="1"/>
          </p:cNvSpPr>
          <p:nvPr>
            <p:ph type="sldNum" sz="quarter" idx="5"/>
          </p:nvPr>
        </p:nvSpPr>
        <p:spPr/>
        <p:txBody>
          <a:bodyPr/>
          <a:lstStyle/>
          <a:p>
            <a:fld id="{E526EDF5-73A9-4F30-B1A6-8B6AF30FC97A}" type="slidenum">
              <a:rPr lang="en-US" smtClean="0"/>
              <a:t>6</a:t>
            </a:fld>
            <a:endParaRPr lang="en-US"/>
          </a:p>
        </p:txBody>
      </p:sp>
    </p:spTree>
    <p:extLst>
      <p:ext uri="{BB962C8B-B14F-4D97-AF65-F5344CB8AC3E}">
        <p14:creationId xmlns:p14="http://schemas.microsoft.com/office/powerpoint/2010/main" val="1205013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usage of inheritance. In these example, instantiate two classes DNA and RNA. They call the same variable from their specific method. They claim the same parent method inherited from the parent class.  And the results are showed on the left side panel.</a:t>
            </a:r>
          </a:p>
        </p:txBody>
      </p:sp>
      <p:sp>
        <p:nvSpPr>
          <p:cNvPr id="4" name="Slide Number Placeholder 3"/>
          <p:cNvSpPr>
            <a:spLocks noGrp="1"/>
          </p:cNvSpPr>
          <p:nvPr>
            <p:ph type="sldNum" sz="quarter" idx="5"/>
          </p:nvPr>
        </p:nvSpPr>
        <p:spPr/>
        <p:txBody>
          <a:bodyPr/>
          <a:lstStyle/>
          <a:p>
            <a:fld id="{E526EDF5-73A9-4F30-B1A6-8B6AF30FC97A}" type="slidenum">
              <a:rPr lang="en-US" smtClean="0"/>
              <a:t>7</a:t>
            </a:fld>
            <a:endParaRPr lang="en-US"/>
          </a:p>
        </p:txBody>
      </p:sp>
    </p:spTree>
    <p:extLst>
      <p:ext uri="{BB962C8B-B14F-4D97-AF65-F5344CB8AC3E}">
        <p14:creationId xmlns:p14="http://schemas.microsoft.com/office/powerpoint/2010/main" val="2535923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I am going to show more complicated example of inheritance. </a:t>
            </a:r>
          </a:p>
          <a:p>
            <a:r>
              <a:rPr lang="en-US" dirty="0"/>
              <a:t>Both the class molecular and source are the parent class of the child class DNA. And the class DNA is the parent class of the child class CDS. The class CDS inherited attributes and methods from the 3 parent classes.</a:t>
            </a:r>
          </a:p>
        </p:txBody>
      </p:sp>
      <p:sp>
        <p:nvSpPr>
          <p:cNvPr id="4" name="Slide Number Placeholder 3"/>
          <p:cNvSpPr>
            <a:spLocks noGrp="1"/>
          </p:cNvSpPr>
          <p:nvPr>
            <p:ph type="sldNum" sz="quarter" idx="5"/>
          </p:nvPr>
        </p:nvSpPr>
        <p:spPr/>
        <p:txBody>
          <a:bodyPr/>
          <a:lstStyle/>
          <a:p>
            <a:fld id="{E526EDF5-73A9-4F30-B1A6-8B6AF30FC97A}" type="slidenum">
              <a:rPr lang="en-US" smtClean="0"/>
              <a:t>8</a:t>
            </a:fld>
            <a:endParaRPr lang="en-US"/>
          </a:p>
        </p:txBody>
      </p:sp>
    </p:spTree>
    <p:extLst>
      <p:ext uri="{BB962C8B-B14F-4D97-AF65-F5344CB8AC3E}">
        <p14:creationId xmlns:p14="http://schemas.microsoft.com/office/powerpoint/2010/main" val="2306309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execution status of this example.  I instantiated two classes passing three or four parameters, </a:t>
            </a:r>
            <a:r>
              <a:rPr lang="en-US" dirty="0" err="1"/>
              <a:t>repectively</a:t>
            </a:r>
            <a:r>
              <a:rPr lang="en-US" dirty="0"/>
              <a:t>. The results are displayed on the left side.</a:t>
            </a:r>
          </a:p>
        </p:txBody>
      </p:sp>
      <p:sp>
        <p:nvSpPr>
          <p:cNvPr id="4" name="Slide Number Placeholder 3"/>
          <p:cNvSpPr>
            <a:spLocks noGrp="1"/>
          </p:cNvSpPr>
          <p:nvPr>
            <p:ph type="sldNum" sz="quarter" idx="5"/>
          </p:nvPr>
        </p:nvSpPr>
        <p:spPr/>
        <p:txBody>
          <a:bodyPr/>
          <a:lstStyle/>
          <a:p>
            <a:fld id="{E526EDF5-73A9-4F30-B1A6-8B6AF30FC97A}" type="slidenum">
              <a:rPr lang="en-US" smtClean="0"/>
              <a:t>12</a:t>
            </a:fld>
            <a:endParaRPr lang="en-US"/>
          </a:p>
        </p:txBody>
      </p:sp>
    </p:spTree>
    <p:extLst>
      <p:ext uri="{BB962C8B-B14F-4D97-AF65-F5344CB8AC3E}">
        <p14:creationId xmlns:p14="http://schemas.microsoft.com/office/powerpoint/2010/main" val="2554580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CFBA-7278-4EB3-9731-0EC2CA682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736D1-9549-46F6-82E7-ADBB83F78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2AB9B-6AC1-4A4E-A922-525FB5EA0CD8}"/>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5" name="Footer Placeholder 4">
            <a:extLst>
              <a:ext uri="{FF2B5EF4-FFF2-40B4-BE49-F238E27FC236}">
                <a16:creationId xmlns:a16="http://schemas.microsoft.com/office/drawing/2014/main" id="{18035F38-1F90-4E8A-A282-D9ED88CD8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0FD0-81EB-48A4-9258-8398DE9F951D}"/>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9268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91A9-88F4-4E90-8C13-8F233660F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DEEEA-3E05-42DF-9116-AE885F6EEE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35EB9-23F6-4C86-98BE-9E0C1425437B}"/>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5" name="Footer Placeholder 4">
            <a:extLst>
              <a:ext uri="{FF2B5EF4-FFF2-40B4-BE49-F238E27FC236}">
                <a16:creationId xmlns:a16="http://schemas.microsoft.com/office/drawing/2014/main" id="{C4BFB126-880B-4535-91D3-24DE5315D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82CE4-5F0D-492C-A7C4-573DFAFCCE6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97970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834F-1BE7-44DD-8ED6-62700B61F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90E5A-F37E-43F8-9F2B-F1D5FFC2B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CB44-75A4-44D8-8DE6-2D637C175B7E}"/>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5" name="Footer Placeholder 4">
            <a:extLst>
              <a:ext uri="{FF2B5EF4-FFF2-40B4-BE49-F238E27FC236}">
                <a16:creationId xmlns:a16="http://schemas.microsoft.com/office/drawing/2014/main" id="{D6A6318C-9B86-43AE-B62C-6798A7B94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21BB-7B39-442C-9A2F-A71606FE783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1907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CDE0-49EB-42CE-982C-3023921EC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9870B-AB41-452D-AFE5-F9403D30FE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9CBAD-E0D3-4ABC-8395-1D5466096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363517-E313-455F-8B5D-79410964A66E}"/>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6" name="Footer Placeholder 5">
            <a:extLst>
              <a:ext uri="{FF2B5EF4-FFF2-40B4-BE49-F238E27FC236}">
                <a16:creationId xmlns:a16="http://schemas.microsoft.com/office/drawing/2014/main" id="{262CEB3E-7FD3-437B-8B84-4CBC8AB83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75424-F69E-436B-8506-27D2346DFC9C}"/>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420866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A273-610E-4E32-8B8A-E52ABA77F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67AA1A-186E-439C-9AA2-F0AE095D0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6384C-C5F4-41E6-BB14-90EBDF9F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8F50F-49EA-4E8F-8608-A81C6D2D62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6D8C2-9EFE-4B40-8009-3562B94C1A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551CB-552F-4203-B2CE-E93307BE5157}"/>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8" name="Footer Placeholder 7">
            <a:extLst>
              <a:ext uri="{FF2B5EF4-FFF2-40B4-BE49-F238E27FC236}">
                <a16:creationId xmlns:a16="http://schemas.microsoft.com/office/drawing/2014/main" id="{5B259EAD-F69A-41DA-A5B4-F09581C30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D2795-7649-472E-ACAC-21F7B92A655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68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8A0B-CD8C-41A2-87C4-5E84235B5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77AC3-3055-4984-9A8E-C7DE52188D4E}"/>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4" name="Footer Placeholder 3">
            <a:extLst>
              <a:ext uri="{FF2B5EF4-FFF2-40B4-BE49-F238E27FC236}">
                <a16:creationId xmlns:a16="http://schemas.microsoft.com/office/drawing/2014/main" id="{3B1D6781-3C95-4C3A-A642-6CBD5985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CCA2B6-0F8A-4464-901A-E9DB3BD2056E}"/>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3795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A254C-BB94-4794-BEA3-5FAF3195D497}"/>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3" name="Footer Placeholder 2">
            <a:extLst>
              <a:ext uri="{FF2B5EF4-FFF2-40B4-BE49-F238E27FC236}">
                <a16:creationId xmlns:a16="http://schemas.microsoft.com/office/drawing/2014/main" id="{0F02BB9C-1134-4BC3-8260-BA2B6F56AE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D7066-657E-48BA-9404-359D9CC51EA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7803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F829-3243-4B52-8281-E9DDA1F38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54CC9-3699-44C0-89DC-687A8006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42CF5-67A5-4DBF-83FB-3ECFBB488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D33-C28F-41CB-9D79-0DF80EEBA07A}"/>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6" name="Footer Placeholder 5">
            <a:extLst>
              <a:ext uri="{FF2B5EF4-FFF2-40B4-BE49-F238E27FC236}">
                <a16:creationId xmlns:a16="http://schemas.microsoft.com/office/drawing/2014/main" id="{79AC33DC-C239-4AF8-9D1E-E779E15D0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6A338-41FE-4734-B552-5C90AA02B88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057788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626-38EC-40FC-81BC-1065A1D1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2D3D4-8C98-4F89-A194-5314F44C4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BCA05-EAE4-4A75-9B5F-29F22B4FC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50693-A768-4B8B-9F75-109A0C237031}"/>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6" name="Footer Placeholder 5">
            <a:extLst>
              <a:ext uri="{FF2B5EF4-FFF2-40B4-BE49-F238E27FC236}">
                <a16:creationId xmlns:a16="http://schemas.microsoft.com/office/drawing/2014/main" id="{72705722-A632-4957-BEFD-CA108BB95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034C4-659F-4689-A76E-263606490B10}"/>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7170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4A0-DAE7-497D-A81A-04DDA7D2D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C56EF7-54F1-4ABB-8450-E287FA405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116C4-249A-4AED-8C24-8A13F2A93BAF}"/>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5" name="Footer Placeholder 4">
            <a:extLst>
              <a:ext uri="{FF2B5EF4-FFF2-40B4-BE49-F238E27FC236}">
                <a16:creationId xmlns:a16="http://schemas.microsoft.com/office/drawing/2014/main" id="{36B953A9-6C7F-4A0D-BC4B-77B717AB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677AD-112F-4BFB-85B0-28EC54B6413B}"/>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8127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3EE-D243-4226-9CE6-3A107A076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420C8-2A2C-4D59-BB85-A9122D706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92ED-73E0-43F9-9659-5926218A1612}"/>
              </a:ext>
            </a:extLst>
          </p:cNvPr>
          <p:cNvSpPr>
            <a:spLocks noGrp="1"/>
          </p:cNvSpPr>
          <p:nvPr>
            <p:ph type="dt" sz="half" idx="10"/>
          </p:nvPr>
        </p:nvSpPr>
        <p:spPr/>
        <p:txBody>
          <a:bodyPr/>
          <a:lstStyle/>
          <a:p>
            <a:fld id="{01E01B02-CFB9-4BE7-AFFD-E66651E1C201}" type="datetimeFigureOut">
              <a:rPr lang="en-US" smtClean="0"/>
              <a:t>1/31/2020</a:t>
            </a:fld>
            <a:endParaRPr lang="en-US"/>
          </a:p>
        </p:txBody>
      </p:sp>
      <p:sp>
        <p:nvSpPr>
          <p:cNvPr id="5" name="Footer Placeholder 4">
            <a:extLst>
              <a:ext uri="{FF2B5EF4-FFF2-40B4-BE49-F238E27FC236}">
                <a16:creationId xmlns:a16="http://schemas.microsoft.com/office/drawing/2014/main" id="{E5D28322-7817-470B-8A6B-F1D434BA2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2E6F2-BB4F-4B52-B4EE-179AE8CDF7D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2504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FC31-B832-4BF1-B059-70054D140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61D12-50BE-4FF9-957D-5A61FFDA8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0FBD4-EC49-4302-9342-57454FC6B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01B02-CFB9-4BE7-AFFD-E66651E1C201}" type="datetimeFigureOut">
              <a:rPr lang="en-US" smtClean="0"/>
              <a:t>1/31/2020</a:t>
            </a:fld>
            <a:endParaRPr lang="en-US"/>
          </a:p>
        </p:txBody>
      </p:sp>
      <p:sp>
        <p:nvSpPr>
          <p:cNvPr id="5" name="Footer Placeholder 4">
            <a:extLst>
              <a:ext uri="{FF2B5EF4-FFF2-40B4-BE49-F238E27FC236}">
                <a16:creationId xmlns:a16="http://schemas.microsoft.com/office/drawing/2014/main" id="{DC89B591-E304-4539-84E8-50F8F858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072A4-F25A-4550-BEDC-84064985E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B8275-B259-402B-84A9-4510FAEE6AEF}" type="slidenum">
              <a:rPr lang="en-US" smtClean="0"/>
              <a:t>‹#›</a:t>
            </a:fld>
            <a:endParaRPr lang="en-US"/>
          </a:p>
        </p:txBody>
      </p:sp>
    </p:spTree>
    <p:extLst>
      <p:ext uri="{BB962C8B-B14F-4D97-AF65-F5344CB8AC3E}">
        <p14:creationId xmlns:p14="http://schemas.microsoft.com/office/powerpoint/2010/main" val="3571546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458A-1DC2-4BD0-80E7-B5B1D2F0350F}"/>
              </a:ext>
            </a:extLst>
          </p:cNvPr>
          <p:cNvSpPr>
            <a:spLocks noGrp="1"/>
          </p:cNvSpPr>
          <p:nvPr>
            <p:ph type="ctrTitle"/>
          </p:nvPr>
        </p:nvSpPr>
        <p:spPr/>
        <p:txBody>
          <a:bodyPr>
            <a:normAutofit/>
          </a:bodyPr>
          <a:lstStyle/>
          <a:p>
            <a:r>
              <a:rPr lang="en-US" dirty="0"/>
              <a:t>Develop Python pipeline:</a:t>
            </a:r>
            <a:br>
              <a:rPr lang="en-US" dirty="0"/>
            </a:br>
            <a:r>
              <a:rPr lang="en-US" dirty="0"/>
              <a:t>Inheritance</a:t>
            </a:r>
          </a:p>
        </p:txBody>
      </p:sp>
      <p:sp>
        <p:nvSpPr>
          <p:cNvPr id="3" name="Subtitle 2">
            <a:extLst>
              <a:ext uri="{FF2B5EF4-FFF2-40B4-BE49-F238E27FC236}">
                <a16:creationId xmlns:a16="http://schemas.microsoft.com/office/drawing/2014/main" id="{5930F043-6162-49F5-A5C0-1CA1BC2BE72D}"/>
              </a:ext>
            </a:extLst>
          </p:cNvPr>
          <p:cNvSpPr>
            <a:spLocks noGrp="1"/>
          </p:cNvSpPr>
          <p:nvPr>
            <p:ph type="subTitle" idx="1"/>
          </p:nvPr>
        </p:nvSpPr>
        <p:spPr>
          <a:xfrm>
            <a:off x="1524000" y="4235116"/>
            <a:ext cx="9144000" cy="1022684"/>
          </a:xfrm>
        </p:spPr>
        <p:txBody>
          <a:bodyPr/>
          <a:lstStyle/>
          <a:p>
            <a:r>
              <a:rPr lang="en-US" dirty="0"/>
              <a:t>Tiezheng Yuan</a:t>
            </a:r>
          </a:p>
          <a:p>
            <a:r>
              <a:rPr lang="en-US" dirty="0"/>
              <a:t>Feb 01, 2020</a:t>
            </a:r>
          </a:p>
        </p:txBody>
      </p:sp>
    </p:spTree>
    <p:extLst>
      <p:ext uri="{BB962C8B-B14F-4D97-AF65-F5344CB8AC3E}">
        <p14:creationId xmlns:p14="http://schemas.microsoft.com/office/powerpoint/2010/main" val="28055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lstStyle/>
          <a:p>
            <a:pPr algn="ctr"/>
            <a:r>
              <a:rPr lang="en-US" dirty="0"/>
              <a:t>Inheritance</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p:txBody>
          <a:bodyPr>
            <a:normAutofit/>
          </a:bodyPr>
          <a:lstStyle/>
          <a:p>
            <a:r>
              <a:rPr lang="en-US" sz="3200" dirty="0"/>
              <a:t>There is a biological phenomenon: Parents give birth to their children. The Children usually inherit some features from their parents.</a:t>
            </a:r>
          </a:p>
          <a:p>
            <a:r>
              <a:rPr lang="en-US" sz="3200" dirty="0"/>
              <a:t>In object-oriented programming (OOP) thinking, a new class is a modified version of an existing class. This is inheritance. The existing class is called parent class, and the new class is called children class.</a:t>
            </a:r>
          </a:p>
        </p:txBody>
      </p:sp>
    </p:spTree>
    <p:extLst>
      <p:ext uri="{BB962C8B-B14F-4D97-AF65-F5344CB8AC3E}">
        <p14:creationId xmlns:p14="http://schemas.microsoft.com/office/powerpoint/2010/main" val="2156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80808-791F-4DE9-AE93-42948B4F44B3}"/>
              </a:ext>
            </a:extLst>
          </p:cNvPr>
          <p:cNvSpPr>
            <a:spLocks noGrp="1"/>
          </p:cNvSpPr>
          <p:nvPr>
            <p:ph type="title"/>
          </p:nvPr>
        </p:nvSpPr>
        <p:spPr/>
        <p:txBody>
          <a:bodyPr/>
          <a:lstStyle/>
          <a:p>
            <a:pPr algn="ctr"/>
            <a:r>
              <a:rPr lang="en-US" dirty="0"/>
              <a:t>Inheritance in real world</a:t>
            </a:r>
          </a:p>
        </p:txBody>
      </p:sp>
      <p:sp>
        <p:nvSpPr>
          <p:cNvPr id="3" name="Content Placeholder 2">
            <a:extLst>
              <a:ext uri="{FF2B5EF4-FFF2-40B4-BE49-F238E27FC236}">
                <a16:creationId xmlns:a16="http://schemas.microsoft.com/office/drawing/2014/main" id="{F6E77760-E35F-4C06-89AF-07D5F6E3117E}"/>
              </a:ext>
            </a:extLst>
          </p:cNvPr>
          <p:cNvSpPr>
            <a:spLocks noGrp="1"/>
          </p:cNvSpPr>
          <p:nvPr>
            <p:ph idx="1"/>
          </p:nvPr>
        </p:nvSpPr>
        <p:spPr>
          <a:xfrm>
            <a:off x="838200" y="5327373"/>
            <a:ext cx="10515600" cy="849589"/>
          </a:xfrm>
        </p:spPr>
        <p:txBody>
          <a:bodyPr/>
          <a:lstStyle/>
          <a:p>
            <a:r>
              <a:rPr lang="en-US" dirty="0"/>
              <a:t>A good way to extend current class without modifying it.</a:t>
            </a:r>
          </a:p>
        </p:txBody>
      </p:sp>
      <p:sp>
        <p:nvSpPr>
          <p:cNvPr id="4" name="Rectangle 3">
            <a:extLst>
              <a:ext uri="{FF2B5EF4-FFF2-40B4-BE49-F238E27FC236}">
                <a16:creationId xmlns:a16="http://schemas.microsoft.com/office/drawing/2014/main" id="{2BCEB96E-54C1-4FA9-A3FD-2CB1FC28759C}"/>
              </a:ext>
            </a:extLst>
          </p:cNvPr>
          <p:cNvSpPr/>
          <p:nvPr/>
        </p:nvSpPr>
        <p:spPr>
          <a:xfrm>
            <a:off x="4830417" y="1796393"/>
            <a:ext cx="1649896" cy="84958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Car</a:t>
            </a:r>
          </a:p>
        </p:txBody>
      </p:sp>
      <p:sp>
        <p:nvSpPr>
          <p:cNvPr id="5" name="Rectangle 4">
            <a:extLst>
              <a:ext uri="{FF2B5EF4-FFF2-40B4-BE49-F238E27FC236}">
                <a16:creationId xmlns:a16="http://schemas.microsoft.com/office/drawing/2014/main" id="{FA64D57D-E0E0-459B-87E5-4E34FB1FD0FF}"/>
              </a:ext>
            </a:extLst>
          </p:cNvPr>
          <p:cNvSpPr/>
          <p:nvPr/>
        </p:nvSpPr>
        <p:spPr>
          <a:xfrm>
            <a:off x="2140226" y="3577516"/>
            <a:ext cx="1649896" cy="84958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Sedan car</a:t>
            </a:r>
          </a:p>
        </p:txBody>
      </p:sp>
      <p:sp>
        <p:nvSpPr>
          <p:cNvPr id="6" name="Rectangle 5">
            <a:extLst>
              <a:ext uri="{FF2B5EF4-FFF2-40B4-BE49-F238E27FC236}">
                <a16:creationId xmlns:a16="http://schemas.microsoft.com/office/drawing/2014/main" id="{A63BFE4F-F268-4F65-9B6F-2FB5FFC4238D}"/>
              </a:ext>
            </a:extLst>
          </p:cNvPr>
          <p:cNvSpPr/>
          <p:nvPr/>
        </p:nvSpPr>
        <p:spPr>
          <a:xfrm>
            <a:off x="6516756" y="3522490"/>
            <a:ext cx="1885124" cy="84958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Sports car</a:t>
            </a:r>
          </a:p>
        </p:txBody>
      </p:sp>
      <p:cxnSp>
        <p:nvCxnSpPr>
          <p:cNvPr id="14" name="Straight Arrow Connector 13">
            <a:extLst>
              <a:ext uri="{FF2B5EF4-FFF2-40B4-BE49-F238E27FC236}">
                <a16:creationId xmlns:a16="http://schemas.microsoft.com/office/drawing/2014/main" id="{6A54F91E-499C-4106-9F6F-EE2C1DC8AF98}"/>
              </a:ext>
            </a:extLst>
          </p:cNvPr>
          <p:cNvCxnSpPr>
            <a:stCxn id="6" idx="0"/>
            <a:endCxn id="4" idx="2"/>
          </p:cNvCxnSpPr>
          <p:nvPr/>
        </p:nvCxnSpPr>
        <p:spPr>
          <a:xfrm flipH="1" flipV="1">
            <a:off x="5655365" y="2645982"/>
            <a:ext cx="1803953" cy="87650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D8B7A18-0DDF-46B3-BF94-7ED6BE08747B}"/>
              </a:ext>
            </a:extLst>
          </p:cNvPr>
          <p:cNvCxnSpPr>
            <a:cxnSpLocks/>
            <a:stCxn id="5" idx="0"/>
            <a:endCxn id="4" idx="2"/>
          </p:cNvCxnSpPr>
          <p:nvPr/>
        </p:nvCxnSpPr>
        <p:spPr>
          <a:xfrm flipV="1">
            <a:off x="2965174" y="2645982"/>
            <a:ext cx="2690191" cy="931534"/>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69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80808-791F-4DE9-AE93-42948B4F44B3}"/>
              </a:ext>
            </a:extLst>
          </p:cNvPr>
          <p:cNvSpPr>
            <a:spLocks noGrp="1"/>
          </p:cNvSpPr>
          <p:nvPr>
            <p:ph type="title"/>
          </p:nvPr>
        </p:nvSpPr>
        <p:spPr/>
        <p:txBody>
          <a:bodyPr/>
          <a:lstStyle/>
          <a:p>
            <a:pPr algn="ctr"/>
            <a:r>
              <a:rPr lang="en-US" dirty="0"/>
              <a:t>A basic example of inheritance</a:t>
            </a:r>
          </a:p>
        </p:txBody>
      </p:sp>
      <p:sp>
        <p:nvSpPr>
          <p:cNvPr id="3" name="Content Placeholder 2">
            <a:extLst>
              <a:ext uri="{FF2B5EF4-FFF2-40B4-BE49-F238E27FC236}">
                <a16:creationId xmlns:a16="http://schemas.microsoft.com/office/drawing/2014/main" id="{F6E77760-E35F-4C06-89AF-07D5F6E3117E}"/>
              </a:ext>
            </a:extLst>
          </p:cNvPr>
          <p:cNvSpPr>
            <a:spLocks noGrp="1"/>
          </p:cNvSpPr>
          <p:nvPr>
            <p:ph idx="1"/>
          </p:nvPr>
        </p:nvSpPr>
        <p:spPr>
          <a:xfrm>
            <a:off x="838200" y="5327373"/>
            <a:ext cx="10515600" cy="849589"/>
          </a:xfrm>
        </p:spPr>
        <p:txBody>
          <a:bodyPr/>
          <a:lstStyle/>
          <a:p>
            <a:r>
              <a:rPr lang="en-US" dirty="0"/>
              <a:t>A good way to extend current class without modifying it.</a:t>
            </a:r>
          </a:p>
        </p:txBody>
      </p:sp>
      <p:pic>
        <p:nvPicPr>
          <p:cNvPr id="10" name="Picture 9">
            <a:extLst>
              <a:ext uri="{FF2B5EF4-FFF2-40B4-BE49-F238E27FC236}">
                <a16:creationId xmlns:a16="http://schemas.microsoft.com/office/drawing/2014/main" id="{B69B528B-BCEE-4DBD-A436-0A00598C662D}"/>
              </a:ext>
            </a:extLst>
          </p:cNvPr>
          <p:cNvPicPr>
            <a:picLocks noChangeAspect="1"/>
          </p:cNvPicPr>
          <p:nvPr/>
        </p:nvPicPr>
        <p:blipFill rotWithShape="1">
          <a:blip r:embed="rId3">
            <a:extLst>
              <a:ext uri="{28A0092B-C50C-407E-A947-70E740481C1C}">
                <a14:useLocalDpi xmlns:a14="http://schemas.microsoft.com/office/drawing/2010/main" val="0"/>
              </a:ext>
            </a:extLst>
          </a:blip>
          <a:srcRect l="14727" r="15255" b="50000"/>
          <a:stretch/>
        </p:blipFill>
        <p:spPr>
          <a:xfrm>
            <a:off x="838200" y="646457"/>
            <a:ext cx="10618442" cy="4503460"/>
          </a:xfrm>
          <a:prstGeom prst="rect">
            <a:avLst/>
          </a:prstGeom>
        </p:spPr>
      </p:pic>
    </p:spTree>
    <p:extLst>
      <p:ext uri="{BB962C8B-B14F-4D97-AF65-F5344CB8AC3E}">
        <p14:creationId xmlns:p14="http://schemas.microsoft.com/office/powerpoint/2010/main" val="365669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6535-93C0-4046-98E8-5150C845F73C}"/>
              </a:ext>
            </a:extLst>
          </p:cNvPr>
          <p:cNvSpPr>
            <a:spLocks noGrp="1"/>
          </p:cNvSpPr>
          <p:nvPr>
            <p:ph type="title"/>
          </p:nvPr>
        </p:nvSpPr>
        <p:spPr/>
        <p:txBody>
          <a:bodyPr/>
          <a:lstStyle/>
          <a:p>
            <a:r>
              <a:rPr lang="en-US" dirty="0"/>
              <a:t>A basic example of inheritance in Python</a:t>
            </a:r>
          </a:p>
        </p:txBody>
      </p:sp>
      <p:sp>
        <p:nvSpPr>
          <p:cNvPr id="4" name="Rectangle 3">
            <a:extLst>
              <a:ext uri="{FF2B5EF4-FFF2-40B4-BE49-F238E27FC236}">
                <a16:creationId xmlns:a16="http://schemas.microsoft.com/office/drawing/2014/main" id="{D5B7F8BF-4C7C-44F7-A682-45184C47D4BC}"/>
              </a:ext>
            </a:extLst>
          </p:cNvPr>
          <p:cNvSpPr/>
          <p:nvPr/>
        </p:nvSpPr>
        <p:spPr>
          <a:xfrm>
            <a:off x="1504120" y="1690688"/>
            <a:ext cx="7748339" cy="4401205"/>
          </a:xfrm>
          <a:prstGeom prst="rect">
            <a:avLst/>
          </a:prstGeom>
          <a:ln>
            <a:solidFill>
              <a:schemeClr val="accent1"/>
            </a:solidFill>
          </a:ln>
        </p:spPr>
        <p:txBody>
          <a:bodyPr wrap="square">
            <a:spAutoFit/>
          </a:bodyPr>
          <a:lstStyle/>
          <a:p>
            <a:r>
              <a:rPr lang="en-US" sz="2800" dirty="0"/>
              <a:t>#parent class</a:t>
            </a:r>
          </a:p>
          <a:p>
            <a:r>
              <a:rPr lang="en-US" sz="2800" dirty="0"/>
              <a:t>class molecular:</a:t>
            </a:r>
          </a:p>
          <a:p>
            <a:r>
              <a:rPr lang="en-US" sz="2800" dirty="0"/>
              <a:t>    def __</a:t>
            </a:r>
            <a:r>
              <a:rPr lang="en-US" sz="2800" dirty="0" err="1"/>
              <a:t>init</a:t>
            </a:r>
            <a:r>
              <a:rPr lang="en-US" sz="2800" dirty="0"/>
              <a:t>__ (self, </a:t>
            </a:r>
            <a:r>
              <a:rPr lang="en-US" sz="2800" dirty="0" err="1"/>
              <a:t>molSeq</a:t>
            </a:r>
            <a:r>
              <a:rPr lang="en-US" sz="2800" dirty="0"/>
              <a:t>):</a:t>
            </a:r>
          </a:p>
          <a:p>
            <a:r>
              <a:rPr lang="en-US" sz="2800" dirty="0"/>
              <a:t>        </a:t>
            </a:r>
            <a:r>
              <a:rPr lang="en-US" sz="2800" dirty="0" err="1"/>
              <a:t>self.molSeq</a:t>
            </a:r>
            <a:r>
              <a:rPr lang="en-US" sz="2800" dirty="0"/>
              <a:t>=</a:t>
            </a:r>
            <a:r>
              <a:rPr lang="en-US" sz="2800" dirty="0" err="1"/>
              <a:t>molSeq</a:t>
            </a:r>
            <a:endParaRPr lang="en-US" sz="2800" dirty="0"/>
          </a:p>
          <a:p>
            <a:r>
              <a:rPr lang="en-US" sz="2800" dirty="0"/>
              <a:t>    </a:t>
            </a:r>
          </a:p>
          <a:p>
            <a:r>
              <a:rPr lang="en-US" sz="2800" dirty="0"/>
              <a:t>    #method of the parent class</a:t>
            </a:r>
          </a:p>
          <a:p>
            <a:r>
              <a:rPr lang="en-US" sz="2800" dirty="0"/>
              <a:t>    def </a:t>
            </a:r>
            <a:r>
              <a:rPr lang="en-US" sz="2800" dirty="0" err="1"/>
              <a:t>getLength</a:t>
            </a:r>
            <a:r>
              <a:rPr lang="en-US" sz="2800" dirty="0"/>
              <a:t>(self):</a:t>
            </a:r>
          </a:p>
          <a:p>
            <a:r>
              <a:rPr lang="en-US" sz="2800" dirty="0"/>
              <a:t>        </a:t>
            </a:r>
            <a:r>
              <a:rPr lang="en-US" sz="2800" dirty="0" err="1"/>
              <a:t>seqLen</a:t>
            </a:r>
            <a:r>
              <a:rPr lang="en-US" sz="2800" dirty="0"/>
              <a:t>=</a:t>
            </a:r>
            <a:r>
              <a:rPr lang="en-US" sz="2800" dirty="0" err="1"/>
              <a:t>len</a:t>
            </a:r>
            <a:r>
              <a:rPr lang="en-US" sz="2800" dirty="0"/>
              <a:t>(</a:t>
            </a:r>
            <a:r>
              <a:rPr lang="en-US" sz="2800" dirty="0" err="1"/>
              <a:t>self.molSeq</a:t>
            </a:r>
            <a:r>
              <a:rPr lang="en-US" sz="2800" dirty="0"/>
              <a:t>)</a:t>
            </a:r>
          </a:p>
          <a:p>
            <a:r>
              <a:rPr lang="en-US" sz="2800" dirty="0"/>
              <a:t>        print("The length of the sequence is", </a:t>
            </a:r>
            <a:r>
              <a:rPr lang="en-US" sz="2800" dirty="0" err="1"/>
              <a:t>seqLen</a:t>
            </a:r>
            <a:r>
              <a:rPr lang="en-US" sz="2800" dirty="0"/>
              <a:t>)</a:t>
            </a:r>
          </a:p>
          <a:p>
            <a:r>
              <a:rPr lang="en-US" sz="2800" dirty="0"/>
              <a:t>        return </a:t>
            </a:r>
            <a:r>
              <a:rPr lang="en-US" sz="2800" dirty="0" err="1"/>
              <a:t>seqLen</a:t>
            </a:r>
            <a:endParaRPr lang="en-US" sz="2800" dirty="0"/>
          </a:p>
        </p:txBody>
      </p:sp>
    </p:spTree>
    <p:extLst>
      <p:ext uri="{BB962C8B-B14F-4D97-AF65-F5344CB8AC3E}">
        <p14:creationId xmlns:p14="http://schemas.microsoft.com/office/powerpoint/2010/main" val="2026385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66535-93C0-4046-98E8-5150C845F73C}"/>
              </a:ext>
            </a:extLst>
          </p:cNvPr>
          <p:cNvSpPr>
            <a:spLocks noGrp="1"/>
          </p:cNvSpPr>
          <p:nvPr>
            <p:ph type="title"/>
          </p:nvPr>
        </p:nvSpPr>
        <p:spPr/>
        <p:txBody>
          <a:bodyPr/>
          <a:lstStyle/>
          <a:p>
            <a:r>
              <a:rPr lang="en-US" dirty="0"/>
              <a:t>A basic example of inheritance in Python</a:t>
            </a:r>
          </a:p>
        </p:txBody>
      </p:sp>
      <p:sp>
        <p:nvSpPr>
          <p:cNvPr id="4" name="Rectangle 3">
            <a:extLst>
              <a:ext uri="{FF2B5EF4-FFF2-40B4-BE49-F238E27FC236}">
                <a16:creationId xmlns:a16="http://schemas.microsoft.com/office/drawing/2014/main" id="{D5B7F8BF-4C7C-44F7-A682-45184C47D4BC}"/>
              </a:ext>
            </a:extLst>
          </p:cNvPr>
          <p:cNvSpPr/>
          <p:nvPr/>
        </p:nvSpPr>
        <p:spPr>
          <a:xfrm>
            <a:off x="1504120" y="1690688"/>
            <a:ext cx="7748339" cy="4832092"/>
          </a:xfrm>
          <a:prstGeom prst="rect">
            <a:avLst/>
          </a:prstGeom>
          <a:ln>
            <a:solidFill>
              <a:schemeClr val="accent1"/>
            </a:solidFill>
          </a:ln>
        </p:spPr>
        <p:txBody>
          <a:bodyPr wrap="square">
            <a:spAutoFit/>
          </a:bodyPr>
          <a:lstStyle/>
          <a:p>
            <a:r>
              <a:rPr lang="en-US" sz="2800" b="1" dirty="0"/>
              <a:t>class DNA (molecular):</a:t>
            </a:r>
          </a:p>
          <a:p>
            <a:r>
              <a:rPr lang="en-US" sz="2800" dirty="0"/>
              <a:t>    #method of the children class</a:t>
            </a:r>
          </a:p>
          <a:p>
            <a:r>
              <a:rPr lang="en-US" sz="2800" dirty="0"/>
              <a:t>    def </a:t>
            </a:r>
            <a:r>
              <a:rPr lang="en-US" sz="2800" dirty="0" err="1"/>
              <a:t>getDNA</a:t>
            </a:r>
            <a:r>
              <a:rPr lang="en-US" sz="2800" dirty="0"/>
              <a:t>(self):</a:t>
            </a:r>
          </a:p>
          <a:p>
            <a:r>
              <a:rPr lang="en-US" sz="2800" dirty="0"/>
              <a:t>        print("The DNA sequence is", </a:t>
            </a:r>
            <a:r>
              <a:rPr lang="en-US" sz="2800" dirty="0" err="1"/>
              <a:t>self.molSeq</a:t>
            </a:r>
            <a:r>
              <a:rPr lang="en-US" sz="2800" dirty="0"/>
              <a:t>)</a:t>
            </a:r>
          </a:p>
          <a:p>
            <a:r>
              <a:rPr lang="en-US" sz="2800" dirty="0"/>
              <a:t>        return </a:t>
            </a:r>
            <a:r>
              <a:rPr lang="en-US" sz="2800" dirty="0" err="1"/>
              <a:t>self.molSeq</a:t>
            </a:r>
            <a:endParaRPr lang="en-US" sz="2800" dirty="0"/>
          </a:p>
          <a:p>
            <a:endParaRPr lang="en-US" sz="2800" dirty="0"/>
          </a:p>
          <a:p>
            <a:r>
              <a:rPr lang="en-US" sz="2800" b="1" dirty="0"/>
              <a:t>class RNA (molecular):</a:t>
            </a:r>
          </a:p>
          <a:p>
            <a:r>
              <a:rPr lang="en-US" sz="2800" dirty="0"/>
              <a:t>    #method of the children class</a:t>
            </a:r>
          </a:p>
          <a:p>
            <a:r>
              <a:rPr lang="en-US" sz="2800" dirty="0"/>
              <a:t>    def </a:t>
            </a:r>
            <a:r>
              <a:rPr lang="en-US" sz="2800" dirty="0" err="1"/>
              <a:t>getRNA</a:t>
            </a:r>
            <a:r>
              <a:rPr lang="en-US" sz="2800" dirty="0"/>
              <a:t>(self):</a:t>
            </a:r>
          </a:p>
          <a:p>
            <a:r>
              <a:rPr lang="en-US" sz="2800" dirty="0"/>
              <a:t>        print("The RNA sequence is", </a:t>
            </a:r>
            <a:r>
              <a:rPr lang="en-US" sz="2800" dirty="0" err="1"/>
              <a:t>self.molSeq</a:t>
            </a:r>
            <a:r>
              <a:rPr lang="en-US" sz="2800" dirty="0"/>
              <a:t>)</a:t>
            </a:r>
          </a:p>
          <a:p>
            <a:r>
              <a:rPr lang="en-US" sz="2800" dirty="0"/>
              <a:t>        return </a:t>
            </a:r>
            <a:r>
              <a:rPr lang="en-US" sz="2800" dirty="0" err="1"/>
              <a:t>self.molSeq</a:t>
            </a:r>
            <a:endParaRPr lang="en-US" sz="2800" dirty="0"/>
          </a:p>
        </p:txBody>
      </p:sp>
    </p:spTree>
    <p:extLst>
      <p:ext uri="{BB962C8B-B14F-4D97-AF65-F5344CB8AC3E}">
        <p14:creationId xmlns:p14="http://schemas.microsoft.com/office/powerpoint/2010/main" val="1657681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D109F-9928-4652-8C5A-A035E68485DC}"/>
              </a:ext>
            </a:extLst>
          </p:cNvPr>
          <p:cNvSpPr>
            <a:spLocks noGrp="1"/>
          </p:cNvSpPr>
          <p:nvPr>
            <p:ph type="title"/>
          </p:nvPr>
        </p:nvSpPr>
        <p:spPr>
          <a:xfrm>
            <a:off x="838199" y="0"/>
            <a:ext cx="10515600" cy="1325563"/>
          </a:xfrm>
        </p:spPr>
        <p:txBody>
          <a:bodyPr/>
          <a:lstStyle/>
          <a:p>
            <a:pPr algn="ctr"/>
            <a:r>
              <a:rPr lang="en-US" dirty="0"/>
              <a:t>Use inheritance</a:t>
            </a:r>
          </a:p>
        </p:txBody>
      </p:sp>
      <p:pic>
        <p:nvPicPr>
          <p:cNvPr id="7" name="Picture 6">
            <a:extLst>
              <a:ext uri="{FF2B5EF4-FFF2-40B4-BE49-F238E27FC236}">
                <a16:creationId xmlns:a16="http://schemas.microsoft.com/office/drawing/2014/main" id="{3C0529C8-9F68-4A68-BECB-CA7EDB634D83}"/>
              </a:ext>
            </a:extLst>
          </p:cNvPr>
          <p:cNvPicPr>
            <a:picLocks noChangeAspect="1"/>
          </p:cNvPicPr>
          <p:nvPr/>
        </p:nvPicPr>
        <p:blipFill rotWithShape="1">
          <a:blip r:embed="rId3"/>
          <a:srcRect l="2616" t="20106" r="37174" b="21337"/>
          <a:stretch/>
        </p:blipFill>
        <p:spPr>
          <a:xfrm>
            <a:off x="872390" y="1325563"/>
            <a:ext cx="10481409" cy="5372949"/>
          </a:xfrm>
          <a:prstGeom prst="rect">
            <a:avLst/>
          </a:prstGeom>
        </p:spPr>
      </p:pic>
    </p:spTree>
    <p:extLst>
      <p:ext uri="{BB962C8B-B14F-4D97-AF65-F5344CB8AC3E}">
        <p14:creationId xmlns:p14="http://schemas.microsoft.com/office/powerpoint/2010/main" val="1114878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80808-791F-4DE9-AE93-42948B4F44B3}"/>
              </a:ext>
            </a:extLst>
          </p:cNvPr>
          <p:cNvSpPr>
            <a:spLocks noGrp="1"/>
          </p:cNvSpPr>
          <p:nvPr>
            <p:ph type="title"/>
          </p:nvPr>
        </p:nvSpPr>
        <p:spPr/>
        <p:txBody>
          <a:bodyPr/>
          <a:lstStyle/>
          <a:p>
            <a:pPr algn="ctr"/>
            <a:r>
              <a:rPr lang="en-US" dirty="0"/>
              <a:t>Hierarchical inheritance</a:t>
            </a:r>
          </a:p>
        </p:txBody>
      </p:sp>
      <p:pic>
        <p:nvPicPr>
          <p:cNvPr id="9" name="Picture 8">
            <a:extLst>
              <a:ext uri="{FF2B5EF4-FFF2-40B4-BE49-F238E27FC236}">
                <a16:creationId xmlns:a16="http://schemas.microsoft.com/office/drawing/2014/main" id="{EF654DE8-5680-470C-A89D-7384A02894E8}"/>
              </a:ext>
            </a:extLst>
          </p:cNvPr>
          <p:cNvPicPr>
            <a:picLocks noChangeAspect="1"/>
          </p:cNvPicPr>
          <p:nvPr/>
        </p:nvPicPr>
        <p:blipFill rotWithShape="1">
          <a:blip r:embed="rId3">
            <a:extLst>
              <a:ext uri="{28A0092B-C50C-407E-A947-70E740481C1C}">
                <a14:useLocalDpi xmlns:a14="http://schemas.microsoft.com/office/drawing/2010/main" val="0"/>
              </a:ext>
            </a:extLst>
          </a:blip>
          <a:srcRect l="18227" t="1560" r="24195" b="50000"/>
          <a:stretch/>
        </p:blipFill>
        <p:spPr>
          <a:xfrm>
            <a:off x="1318437" y="1338125"/>
            <a:ext cx="9380538" cy="5578474"/>
          </a:xfrm>
          <a:prstGeom prst="rect">
            <a:avLst/>
          </a:prstGeom>
        </p:spPr>
      </p:pic>
    </p:spTree>
    <p:extLst>
      <p:ext uri="{BB962C8B-B14F-4D97-AF65-F5344CB8AC3E}">
        <p14:creationId xmlns:p14="http://schemas.microsoft.com/office/powerpoint/2010/main" val="2573267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330876-8FD1-4CEB-96F6-5F3C1287C71E}"/>
              </a:ext>
            </a:extLst>
          </p:cNvPr>
          <p:cNvSpPr/>
          <p:nvPr/>
        </p:nvSpPr>
        <p:spPr>
          <a:xfrm>
            <a:off x="1631711" y="151179"/>
            <a:ext cx="7748339" cy="6555641"/>
          </a:xfrm>
          <a:prstGeom prst="rect">
            <a:avLst/>
          </a:prstGeom>
          <a:ln>
            <a:solidFill>
              <a:schemeClr val="accent1"/>
            </a:solidFill>
          </a:ln>
        </p:spPr>
        <p:txBody>
          <a:bodyPr wrap="square">
            <a:spAutoFit/>
          </a:bodyPr>
          <a:lstStyle/>
          <a:p>
            <a:r>
              <a:rPr lang="en-US" sz="2800" dirty="0"/>
              <a:t>#parent class 1</a:t>
            </a:r>
          </a:p>
          <a:p>
            <a:r>
              <a:rPr lang="en-US" sz="2800" dirty="0"/>
              <a:t>class molecular:</a:t>
            </a:r>
          </a:p>
          <a:p>
            <a:r>
              <a:rPr lang="en-US" sz="2800" dirty="0"/>
              <a:t>    def __</a:t>
            </a:r>
            <a:r>
              <a:rPr lang="en-US" sz="2800" dirty="0" err="1"/>
              <a:t>init</a:t>
            </a:r>
            <a:r>
              <a:rPr lang="en-US" sz="2800" dirty="0"/>
              <a:t>__ (self, </a:t>
            </a:r>
            <a:r>
              <a:rPr lang="en-US" sz="2800" dirty="0" err="1"/>
              <a:t>molSeq</a:t>
            </a:r>
            <a:r>
              <a:rPr lang="en-US" sz="2800" dirty="0"/>
              <a:t>):</a:t>
            </a:r>
          </a:p>
          <a:p>
            <a:r>
              <a:rPr lang="en-US" sz="2800" dirty="0"/>
              <a:t>        </a:t>
            </a:r>
            <a:r>
              <a:rPr lang="en-US" sz="2800" dirty="0" err="1"/>
              <a:t>self.molSeq</a:t>
            </a:r>
            <a:r>
              <a:rPr lang="en-US" sz="2800" dirty="0"/>
              <a:t>=</a:t>
            </a:r>
            <a:r>
              <a:rPr lang="en-US" sz="2800" dirty="0" err="1"/>
              <a:t>molSeq</a:t>
            </a:r>
            <a:endParaRPr lang="en-US" sz="2800" dirty="0"/>
          </a:p>
          <a:p>
            <a:r>
              <a:rPr lang="en-US" sz="2800" dirty="0"/>
              <a:t>    </a:t>
            </a:r>
          </a:p>
          <a:p>
            <a:r>
              <a:rPr lang="en-US" sz="2800" dirty="0"/>
              <a:t>    #method of the parent class</a:t>
            </a:r>
          </a:p>
          <a:p>
            <a:r>
              <a:rPr lang="en-US" sz="2800" dirty="0"/>
              <a:t>    def </a:t>
            </a:r>
            <a:r>
              <a:rPr lang="en-US" sz="2800" dirty="0" err="1"/>
              <a:t>getLength</a:t>
            </a:r>
            <a:r>
              <a:rPr lang="en-US" sz="2800" dirty="0"/>
              <a:t>(self):</a:t>
            </a:r>
          </a:p>
          <a:p>
            <a:r>
              <a:rPr lang="en-US" sz="2800" dirty="0"/>
              <a:t>        </a:t>
            </a:r>
            <a:r>
              <a:rPr lang="en-US" sz="2800" dirty="0" err="1"/>
              <a:t>seqLen</a:t>
            </a:r>
            <a:r>
              <a:rPr lang="en-US" sz="2800" dirty="0"/>
              <a:t>=</a:t>
            </a:r>
            <a:r>
              <a:rPr lang="en-US" sz="2800" dirty="0" err="1"/>
              <a:t>len</a:t>
            </a:r>
            <a:r>
              <a:rPr lang="en-US" sz="2800" dirty="0"/>
              <a:t>(</a:t>
            </a:r>
            <a:r>
              <a:rPr lang="en-US" sz="2800" dirty="0" err="1"/>
              <a:t>self.molSeq</a:t>
            </a:r>
            <a:r>
              <a:rPr lang="en-US" sz="2800" dirty="0"/>
              <a:t>)</a:t>
            </a:r>
          </a:p>
          <a:p>
            <a:r>
              <a:rPr lang="en-US" sz="2800" dirty="0"/>
              <a:t>        print("The length of the sequence is", </a:t>
            </a:r>
            <a:r>
              <a:rPr lang="en-US" sz="2800" dirty="0" err="1"/>
              <a:t>seqLen</a:t>
            </a:r>
            <a:r>
              <a:rPr lang="en-US" sz="2800" dirty="0"/>
              <a:t>)</a:t>
            </a:r>
          </a:p>
          <a:p>
            <a:r>
              <a:rPr lang="en-US" sz="2800" dirty="0"/>
              <a:t>        return </a:t>
            </a:r>
            <a:r>
              <a:rPr lang="en-US" sz="2800" dirty="0" err="1"/>
              <a:t>seqLen</a:t>
            </a:r>
            <a:endParaRPr lang="en-US" sz="2800" dirty="0"/>
          </a:p>
          <a:p>
            <a:r>
              <a:rPr lang="en-US" sz="2800" dirty="0"/>
              <a:t>    </a:t>
            </a:r>
          </a:p>
          <a:p>
            <a:r>
              <a:rPr lang="en-US" sz="2800" dirty="0"/>
              <a:t>#parent class 2</a:t>
            </a:r>
          </a:p>
          <a:p>
            <a:r>
              <a:rPr lang="en-US" sz="2800" dirty="0"/>
              <a:t>class source:</a:t>
            </a:r>
          </a:p>
          <a:p>
            <a:r>
              <a:rPr lang="en-US" sz="2800" dirty="0"/>
              <a:t>    def __</a:t>
            </a:r>
            <a:r>
              <a:rPr lang="en-US" sz="2800" dirty="0" err="1"/>
              <a:t>init</a:t>
            </a:r>
            <a:r>
              <a:rPr lang="en-US" sz="2800" dirty="0"/>
              <a:t>__ (self, specie):</a:t>
            </a:r>
          </a:p>
          <a:p>
            <a:r>
              <a:rPr lang="en-US" sz="2800" dirty="0"/>
              <a:t>        </a:t>
            </a:r>
            <a:r>
              <a:rPr lang="en-US" sz="2800" dirty="0" err="1"/>
              <a:t>self.specie</a:t>
            </a:r>
            <a:r>
              <a:rPr lang="en-US" sz="2800" dirty="0"/>
              <a:t>=specie</a:t>
            </a:r>
          </a:p>
        </p:txBody>
      </p:sp>
    </p:spTree>
    <p:extLst>
      <p:ext uri="{BB962C8B-B14F-4D97-AF65-F5344CB8AC3E}">
        <p14:creationId xmlns:p14="http://schemas.microsoft.com/office/powerpoint/2010/main" val="1192602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330876-8FD1-4CEB-96F6-5F3C1287C71E}"/>
              </a:ext>
            </a:extLst>
          </p:cNvPr>
          <p:cNvSpPr/>
          <p:nvPr/>
        </p:nvSpPr>
        <p:spPr>
          <a:xfrm>
            <a:off x="1731103" y="648135"/>
            <a:ext cx="8704984" cy="5262979"/>
          </a:xfrm>
          <a:prstGeom prst="rect">
            <a:avLst/>
          </a:prstGeom>
          <a:ln>
            <a:solidFill>
              <a:schemeClr val="accent1"/>
            </a:solidFill>
          </a:ln>
        </p:spPr>
        <p:txBody>
          <a:bodyPr wrap="square">
            <a:spAutoFit/>
          </a:bodyPr>
          <a:lstStyle/>
          <a:p>
            <a:r>
              <a:rPr lang="en-US" sz="2800" dirty="0"/>
              <a:t>#children class</a:t>
            </a:r>
          </a:p>
          <a:p>
            <a:r>
              <a:rPr lang="en-US" sz="2800" b="1" dirty="0"/>
              <a:t>class DNA (molecular, source):</a:t>
            </a:r>
          </a:p>
          <a:p>
            <a:r>
              <a:rPr lang="en-US" sz="2800" dirty="0"/>
              <a:t>    def __</a:t>
            </a:r>
            <a:r>
              <a:rPr lang="en-US" sz="2800" dirty="0" err="1"/>
              <a:t>init</a:t>
            </a:r>
            <a:r>
              <a:rPr lang="en-US" sz="2800" dirty="0"/>
              <a:t>__ (self, </a:t>
            </a:r>
            <a:r>
              <a:rPr lang="en-US" sz="2800" dirty="0" err="1"/>
              <a:t>molSeq</a:t>
            </a:r>
            <a:r>
              <a:rPr lang="en-US" sz="2800" dirty="0"/>
              <a:t>, specie, </a:t>
            </a:r>
            <a:r>
              <a:rPr lang="en-US" sz="2800" dirty="0" err="1"/>
              <a:t>accessionNum</a:t>
            </a:r>
            <a:r>
              <a:rPr lang="en-US" sz="2800" dirty="0"/>
              <a:t>):</a:t>
            </a:r>
          </a:p>
          <a:p>
            <a:r>
              <a:rPr lang="en-US" sz="2800" b="1" dirty="0"/>
              <a:t>        molecular.__</a:t>
            </a:r>
            <a:r>
              <a:rPr lang="en-US" sz="2800" b="1" dirty="0" err="1"/>
              <a:t>init</a:t>
            </a:r>
            <a:r>
              <a:rPr lang="en-US" sz="2800" b="1" dirty="0"/>
              <a:t>__(self, </a:t>
            </a:r>
            <a:r>
              <a:rPr lang="en-US" sz="2800" b="1" dirty="0" err="1"/>
              <a:t>molSeq</a:t>
            </a:r>
            <a:r>
              <a:rPr lang="en-US" sz="2800" b="1" dirty="0"/>
              <a:t>)</a:t>
            </a:r>
          </a:p>
          <a:p>
            <a:r>
              <a:rPr lang="en-US" sz="2800" b="1" dirty="0"/>
              <a:t>        source.__</a:t>
            </a:r>
            <a:r>
              <a:rPr lang="en-US" sz="2800" b="1" dirty="0" err="1"/>
              <a:t>init</a:t>
            </a:r>
            <a:r>
              <a:rPr lang="en-US" sz="2800" b="1" dirty="0"/>
              <a:t>__(self, specie)</a:t>
            </a:r>
          </a:p>
          <a:p>
            <a:r>
              <a:rPr lang="en-US" sz="2800" dirty="0"/>
              <a:t>        </a:t>
            </a:r>
            <a:r>
              <a:rPr lang="en-US" sz="2800" dirty="0" err="1"/>
              <a:t>self.accessionNum</a:t>
            </a:r>
            <a:r>
              <a:rPr lang="en-US" sz="2800" dirty="0"/>
              <a:t>=</a:t>
            </a:r>
            <a:r>
              <a:rPr lang="en-US" sz="2800" dirty="0" err="1"/>
              <a:t>accessionNum</a:t>
            </a:r>
            <a:endParaRPr lang="en-US" sz="2800" dirty="0"/>
          </a:p>
          <a:p>
            <a:endParaRPr lang="en-US" sz="2800" dirty="0"/>
          </a:p>
          <a:p>
            <a:r>
              <a:rPr lang="en-US" sz="2800" dirty="0"/>
              <a:t>    #method of the children class</a:t>
            </a:r>
          </a:p>
          <a:p>
            <a:r>
              <a:rPr lang="en-US" sz="2800" dirty="0"/>
              <a:t>    def </a:t>
            </a:r>
            <a:r>
              <a:rPr lang="en-US" sz="2800" dirty="0" err="1"/>
              <a:t>reverseSeq</a:t>
            </a:r>
            <a:r>
              <a:rPr lang="en-US" sz="2800" dirty="0"/>
              <a:t>(self):</a:t>
            </a:r>
          </a:p>
          <a:p>
            <a:r>
              <a:rPr lang="en-US" sz="2800" dirty="0"/>
              <a:t>        </a:t>
            </a:r>
            <a:r>
              <a:rPr lang="en-US" sz="2800" dirty="0" err="1"/>
              <a:t>revSeq</a:t>
            </a:r>
            <a:r>
              <a:rPr lang="en-US" sz="2800" dirty="0"/>
              <a:t> = </a:t>
            </a:r>
            <a:r>
              <a:rPr lang="en-US" sz="2800" dirty="0" err="1"/>
              <a:t>self.molSeq</a:t>
            </a:r>
            <a:r>
              <a:rPr lang="en-US" sz="2800" dirty="0"/>
              <a:t>[::-1]</a:t>
            </a:r>
          </a:p>
          <a:p>
            <a:r>
              <a:rPr lang="en-US" sz="2800" dirty="0"/>
              <a:t>        return </a:t>
            </a:r>
            <a:r>
              <a:rPr lang="en-US" sz="2800" dirty="0" err="1"/>
              <a:t>revSeq</a:t>
            </a:r>
            <a:endParaRPr lang="en-US" sz="2800" dirty="0"/>
          </a:p>
          <a:p>
            <a:endParaRPr lang="en-US" sz="2800" dirty="0"/>
          </a:p>
        </p:txBody>
      </p:sp>
    </p:spTree>
    <p:extLst>
      <p:ext uri="{BB962C8B-B14F-4D97-AF65-F5344CB8AC3E}">
        <p14:creationId xmlns:p14="http://schemas.microsoft.com/office/powerpoint/2010/main" val="3868308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330876-8FD1-4CEB-96F6-5F3C1287C71E}"/>
              </a:ext>
            </a:extLst>
          </p:cNvPr>
          <p:cNvSpPr/>
          <p:nvPr/>
        </p:nvSpPr>
        <p:spPr>
          <a:xfrm>
            <a:off x="400878" y="548744"/>
            <a:ext cx="11390243" cy="5262979"/>
          </a:xfrm>
          <a:prstGeom prst="rect">
            <a:avLst/>
          </a:prstGeom>
          <a:ln>
            <a:solidFill>
              <a:schemeClr val="accent1"/>
            </a:solidFill>
          </a:ln>
        </p:spPr>
        <p:txBody>
          <a:bodyPr wrap="square">
            <a:spAutoFit/>
          </a:bodyPr>
          <a:lstStyle/>
          <a:p>
            <a:r>
              <a:rPr lang="en-US" sz="2800" b="1" dirty="0"/>
              <a:t>class CDS (DNA):</a:t>
            </a:r>
          </a:p>
          <a:p>
            <a:r>
              <a:rPr lang="en-US" sz="2800" dirty="0"/>
              <a:t>    def __</a:t>
            </a:r>
            <a:r>
              <a:rPr lang="en-US" sz="2800" dirty="0" err="1"/>
              <a:t>init</a:t>
            </a:r>
            <a:r>
              <a:rPr lang="en-US" sz="2800" dirty="0"/>
              <a:t>__ (self,  </a:t>
            </a:r>
            <a:r>
              <a:rPr lang="en-US" sz="2800" dirty="0" err="1"/>
              <a:t>molSeq</a:t>
            </a:r>
            <a:r>
              <a:rPr lang="en-US" sz="2800" dirty="0"/>
              <a:t>, specie, </a:t>
            </a:r>
            <a:r>
              <a:rPr lang="en-US" sz="2800" dirty="0" err="1"/>
              <a:t>accessionNum</a:t>
            </a:r>
            <a:r>
              <a:rPr lang="en-US" sz="2800" dirty="0"/>
              <a:t>, </a:t>
            </a:r>
            <a:r>
              <a:rPr lang="en-US" sz="2800" dirty="0" err="1"/>
              <a:t>geneID</a:t>
            </a:r>
            <a:r>
              <a:rPr lang="en-US" sz="2800" dirty="0"/>
              <a:t>):</a:t>
            </a:r>
          </a:p>
          <a:p>
            <a:r>
              <a:rPr lang="en-US" sz="2800" b="1" dirty="0"/>
              <a:t>        DNA.__</a:t>
            </a:r>
            <a:r>
              <a:rPr lang="en-US" sz="2800" b="1" dirty="0" err="1"/>
              <a:t>init</a:t>
            </a:r>
            <a:r>
              <a:rPr lang="en-US" sz="2800" b="1" dirty="0"/>
              <a:t>__(self, </a:t>
            </a:r>
            <a:r>
              <a:rPr lang="en-US" sz="2800" b="1" dirty="0" err="1"/>
              <a:t>molSeq</a:t>
            </a:r>
            <a:r>
              <a:rPr lang="en-US" sz="2800" b="1" dirty="0"/>
              <a:t>, specie, </a:t>
            </a:r>
            <a:r>
              <a:rPr lang="en-US" sz="2800" b="1" dirty="0" err="1"/>
              <a:t>accessionNum</a:t>
            </a:r>
            <a:r>
              <a:rPr lang="en-US" sz="2800" b="1" dirty="0"/>
              <a:t>)</a:t>
            </a:r>
          </a:p>
          <a:p>
            <a:r>
              <a:rPr lang="en-US" sz="2800" dirty="0"/>
              <a:t>        </a:t>
            </a:r>
            <a:r>
              <a:rPr lang="en-US" sz="2800" dirty="0" err="1"/>
              <a:t>self.geneID</a:t>
            </a:r>
            <a:r>
              <a:rPr lang="en-US" sz="2800" dirty="0"/>
              <a:t>=</a:t>
            </a:r>
            <a:r>
              <a:rPr lang="en-US" sz="2800" dirty="0" err="1"/>
              <a:t>geneID</a:t>
            </a:r>
            <a:endParaRPr lang="en-US" sz="2800" dirty="0"/>
          </a:p>
          <a:p>
            <a:endParaRPr lang="en-US" sz="2800" dirty="0"/>
          </a:p>
          <a:p>
            <a:r>
              <a:rPr lang="en-US" sz="2800" dirty="0"/>
              <a:t>    #method of the children class</a:t>
            </a:r>
          </a:p>
          <a:p>
            <a:r>
              <a:rPr lang="en-US" sz="2800" dirty="0"/>
              <a:t>    def </a:t>
            </a:r>
            <a:r>
              <a:rPr lang="en-US" sz="2800" dirty="0" err="1"/>
              <a:t>exportSeq</a:t>
            </a:r>
            <a:r>
              <a:rPr lang="en-US" sz="2800" dirty="0"/>
              <a:t>(self):</a:t>
            </a:r>
          </a:p>
          <a:p>
            <a:r>
              <a:rPr lang="en-US" sz="2800" dirty="0"/>
              <a:t>        print("\</a:t>
            </a:r>
            <a:r>
              <a:rPr lang="en-US" sz="2800" dirty="0" err="1"/>
              <a:t>nFASTA</a:t>
            </a:r>
            <a:r>
              <a:rPr lang="en-US" sz="2800" dirty="0"/>
              <a:t> format:")</a:t>
            </a:r>
          </a:p>
          <a:p>
            <a:r>
              <a:rPr lang="en-US" sz="2800" dirty="0"/>
              <a:t>        </a:t>
            </a:r>
            <a:r>
              <a:rPr lang="en-US" sz="2800" dirty="0" err="1"/>
              <a:t>seqRecord</a:t>
            </a:r>
            <a:r>
              <a:rPr lang="en-US" sz="2800" dirty="0"/>
              <a:t> = "&gt;" + </a:t>
            </a:r>
            <a:r>
              <a:rPr lang="en-US" sz="2800" dirty="0" err="1"/>
              <a:t>self.geneID</a:t>
            </a:r>
            <a:r>
              <a:rPr lang="en-US" sz="2800" dirty="0"/>
              <a:t> + "|" + </a:t>
            </a:r>
            <a:r>
              <a:rPr lang="en-US" sz="2800" dirty="0" err="1"/>
              <a:t>self.accessionNum</a:t>
            </a:r>
            <a:r>
              <a:rPr lang="en-US" sz="2800" dirty="0"/>
              <a:t> + " " +  </a:t>
            </a:r>
            <a:r>
              <a:rPr lang="en-US" sz="2800" dirty="0" err="1"/>
              <a:t>self.specie</a:t>
            </a:r>
            <a:r>
              <a:rPr lang="en-US" sz="2800" dirty="0"/>
              <a:t> + "\n" + </a:t>
            </a:r>
            <a:r>
              <a:rPr lang="en-US" sz="2800" dirty="0" err="1"/>
              <a:t>self.molSeq</a:t>
            </a:r>
            <a:endParaRPr lang="en-US" sz="2800" dirty="0"/>
          </a:p>
          <a:p>
            <a:r>
              <a:rPr lang="en-US" sz="2800" dirty="0"/>
              <a:t>        print(</a:t>
            </a:r>
            <a:r>
              <a:rPr lang="en-US" sz="2800" dirty="0" err="1"/>
              <a:t>seqRecord</a:t>
            </a:r>
            <a:r>
              <a:rPr lang="en-US" sz="2800" dirty="0"/>
              <a:t>)</a:t>
            </a:r>
          </a:p>
          <a:p>
            <a:r>
              <a:rPr lang="en-US" sz="2800" dirty="0"/>
              <a:t>        return </a:t>
            </a:r>
            <a:r>
              <a:rPr lang="en-US" sz="2800" dirty="0" err="1"/>
              <a:t>seqRecord</a:t>
            </a:r>
            <a:endParaRPr lang="en-US" sz="2800" dirty="0"/>
          </a:p>
        </p:txBody>
      </p:sp>
    </p:spTree>
    <p:extLst>
      <p:ext uri="{BB962C8B-B14F-4D97-AF65-F5344CB8AC3E}">
        <p14:creationId xmlns:p14="http://schemas.microsoft.com/office/powerpoint/2010/main" val="413537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F9A42E-519E-43D5-8C4B-401F5252C8F3}"/>
              </a:ext>
            </a:extLst>
          </p:cNvPr>
          <p:cNvPicPr>
            <a:picLocks noChangeAspect="1"/>
          </p:cNvPicPr>
          <p:nvPr/>
        </p:nvPicPr>
        <p:blipFill rotWithShape="1">
          <a:blip r:embed="rId3"/>
          <a:srcRect l="2609" t="28824" r="28587" b="26656"/>
          <a:stretch/>
        </p:blipFill>
        <p:spPr>
          <a:xfrm>
            <a:off x="370330" y="1278744"/>
            <a:ext cx="11821670" cy="4300512"/>
          </a:xfrm>
          <a:prstGeom prst="rect">
            <a:avLst/>
          </a:prstGeom>
        </p:spPr>
      </p:pic>
    </p:spTree>
    <p:extLst>
      <p:ext uri="{BB962C8B-B14F-4D97-AF65-F5344CB8AC3E}">
        <p14:creationId xmlns:p14="http://schemas.microsoft.com/office/powerpoint/2010/main" val="1419845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798</TotalTime>
  <Words>836</Words>
  <Application>Microsoft Office PowerPoint</Application>
  <PresentationFormat>Widescreen</PresentationFormat>
  <Paragraphs>96</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Develop Python pipeline: Inheritance</vt:lpstr>
      <vt:lpstr>Inheritance</vt:lpstr>
      <vt:lpstr>Inheritance in real world</vt:lpstr>
      <vt:lpstr>A basic example of inheritance</vt:lpstr>
      <vt:lpstr>A basic example of inheritance in Python</vt:lpstr>
      <vt:lpstr>A basic example of inheritance in Python</vt:lpstr>
      <vt:lpstr>Use inheritance</vt:lpstr>
      <vt:lpstr>Hierarchical inheritance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Python pipeline: Objects and Classes</dc:title>
  <dc:creator>Tiezheng Yuan</dc:creator>
  <cp:lastModifiedBy>Tiezheng Yuan</cp:lastModifiedBy>
  <cp:revision>23</cp:revision>
  <dcterms:created xsi:type="dcterms:W3CDTF">2020-01-31T22:01:04Z</dcterms:created>
  <dcterms:modified xsi:type="dcterms:W3CDTF">2020-02-01T11:23:02Z</dcterms:modified>
</cp:coreProperties>
</file>