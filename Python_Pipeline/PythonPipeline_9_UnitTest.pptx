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8" r:id="rId3"/>
    <p:sldId id="323" r:id="rId4"/>
    <p:sldId id="274" r:id="rId5"/>
    <p:sldId id="325" r:id="rId6"/>
    <p:sldId id="32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29" autoAdjust="0"/>
    <p:restoredTop sz="71837" autoAdjust="0"/>
  </p:normalViewPr>
  <p:slideViewPr>
    <p:cSldViewPr snapToGrid="0">
      <p:cViewPr varScale="1">
        <p:scale>
          <a:sx n="38" d="100"/>
          <a:sy n="38" d="100"/>
        </p:scale>
        <p:origin x="1195"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135E18-C188-4B80-9445-659122C614DD}" type="datetimeFigureOut">
              <a:rPr lang="en-US" smtClean="0"/>
              <a:t>2/8/2020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26EDF5-73A9-4F30-B1A6-8B6AF30FC97A}" type="slidenum">
              <a:rPr lang="en-US" smtClean="0"/>
              <a:t>‹#›</a:t>
            </a:fld>
            <a:endParaRPr lang="en-US"/>
          </a:p>
        </p:txBody>
      </p:sp>
    </p:spTree>
    <p:extLst>
      <p:ext uri="{BB962C8B-B14F-4D97-AF65-F5344CB8AC3E}">
        <p14:creationId xmlns:p14="http://schemas.microsoft.com/office/powerpoint/2010/main" val="1579761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Today I am going to introduce what is unit testing in developing Python pipelines.</a:t>
            </a:r>
          </a:p>
        </p:txBody>
      </p:sp>
      <p:sp>
        <p:nvSpPr>
          <p:cNvPr id="4" name="Slide Number Placeholder 3"/>
          <p:cNvSpPr>
            <a:spLocks noGrp="1"/>
          </p:cNvSpPr>
          <p:nvPr>
            <p:ph type="sldNum" sz="quarter" idx="5"/>
          </p:nvPr>
        </p:nvSpPr>
        <p:spPr/>
        <p:txBody>
          <a:bodyPr/>
          <a:lstStyle/>
          <a:p>
            <a:fld id="{E526EDF5-73A9-4F30-B1A6-8B6AF30FC97A}" type="slidenum">
              <a:rPr lang="en-US" smtClean="0"/>
              <a:t>1</a:t>
            </a:fld>
            <a:endParaRPr lang="en-US"/>
          </a:p>
        </p:txBody>
      </p:sp>
    </p:spTree>
    <p:extLst>
      <p:ext uri="{BB962C8B-B14F-4D97-AF65-F5344CB8AC3E}">
        <p14:creationId xmlns:p14="http://schemas.microsoft.com/office/powerpoint/2010/main" val="59154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Unit testing</a:t>
            </a:r>
            <a:r>
              <a:rPr lang="en-US" sz="1200" dirty="0"/>
              <a:t> is the process of testing individual units of source code. Unit testing is so important that it is a starting point for all other kinds of testing approach such as integration test, system test or acceptance test. You can’t release python pipeline without testing, and can’t do code work only without unit testing. In large project, developers and testers are different roles. In terms of development of python pipeline, developers often work as testers.</a:t>
            </a:r>
            <a:r>
              <a:rPr lang="en-US" sz="2000" dirty="0"/>
              <a:t>  Here, I am going combine unit testing with White-box testing.</a:t>
            </a:r>
            <a:br>
              <a:rPr lang="en-US" sz="2000" dirty="0"/>
            </a:br>
            <a:r>
              <a:rPr lang="en-US" dirty="0"/>
              <a:t>White-box testing considers internal mechanism of source code. What are goals of unit testing: </a:t>
            </a:r>
            <a:r>
              <a:rPr lang="en-US" sz="1200" dirty="0"/>
              <a:t>Verify the correctness of source code. Validate the robustness and functionality.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2</a:t>
            </a:fld>
            <a:endParaRPr lang="en-US"/>
          </a:p>
        </p:txBody>
      </p:sp>
    </p:spTree>
    <p:extLst>
      <p:ext uri="{BB962C8B-B14F-4D97-AF65-F5344CB8AC3E}">
        <p14:creationId xmlns:p14="http://schemas.microsoft.com/office/powerpoint/2010/main" val="3760723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Design basic testing path and prepare data for testing. Prepare testing plan</a:t>
            </a:r>
          </a:p>
          <a:p>
            <a:r>
              <a:rPr lang="en-US" sz="1200" dirty="0"/>
              <a:t>Build testing repository and Create separate Python scripts for testing</a:t>
            </a:r>
          </a:p>
          <a:p>
            <a:r>
              <a:rPr lang="en-US" sz="1200" dirty="0"/>
              <a:t>Version control: The version of testing unit should keep up with the version of the source code that is subject to testing.</a:t>
            </a:r>
          </a:p>
          <a:p>
            <a:endParaRPr lang="en-US" sz="1200" dirty="0"/>
          </a:p>
          <a:p>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3</a:t>
            </a:fld>
            <a:endParaRPr lang="en-US"/>
          </a:p>
        </p:txBody>
      </p:sp>
    </p:spTree>
    <p:extLst>
      <p:ext uri="{BB962C8B-B14F-4D97-AF65-F5344CB8AC3E}">
        <p14:creationId xmlns:p14="http://schemas.microsoft.com/office/powerpoint/2010/main" val="1752553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4</a:t>
            </a:fld>
            <a:endParaRPr lang="en-US"/>
          </a:p>
        </p:txBody>
      </p:sp>
    </p:spTree>
    <p:extLst>
      <p:ext uri="{BB962C8B-B14F-4D97-AF65-F5344CB8AC3E}">
        <p14:creationId xmlns:p14="http://schemas.microsoft.com/office/powerpoint/2010/main" val="607013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Python provide the module </a:t>
            </a:r>
            <a:r>
              <a:rPr lang="en-US" sz="1200" dirty="0" err="1"/>
              <a:t>unitest</a:t>
            </a:r>
            <a:r>
              <a:rPr lang="en-US" sz="1200" dirty="0"/>
              <a:t> for unit testing. Which is close to Java unit testing – JUnit. Here are three testing cases using the module </a:t>
            </a:r>
            <a:r>
              <a:rPr lang="en-US" sz="1200" dirty="0" err="1"/>
              <a:t>unitest</a:t>
            </a:r>
            <a:r>
              <a:rPr lang="en-US" sz="1200" dirty="0"/>
              <a:t> </a:t>
            </a:r>
            <a:r>
              <a:rPr lang="en-US" sz="1200"/>
              <a:t>in python.</a:t>
            </a:r>
            <a:endParaRPr lang="en-US" sz="1200" dirty="0"/>
          </a:p>
          <a:p>
            <a:endParaRPr lang="en-US" dirty="0"/>
          </a:p>
        </p:txBody>
      </p:sp>
      <p:sp>
        <p:nvSpPr>
          <p:cNvPr id="4" name="Slide Number Placeholder 3"/>
          <p:cNvSpPr>
            <a:spLocks noGrp="1"/>
          </p:cNvSpPr>
          <p:nvPr>
            <p:ph type="sldNum" sz="quarter" idx="5"/>
          </p:nvPr>
        </p:nvSpPr>
        <p:spPr/>
        <p:txBody>
          <a:bodyPr/>
          <a:lstStyle/>
          <a:p>
            <a:fld id="{E526EDF5-73A9-4F30-B1A6-8B6AF30FC97A}" type="slidenum">
              <a:rPr lang="en-US" smtClean="0"/>
              <a:t>5</a:t>
            </a:fld>
            <a:endParaRPr lang="en-US"/>
          </a:p>
        </p:txBody>
      </p:sp>
    </p:spTree>
    <p:extLst>
      <p:ext uri="{BB962C8B-B14F-4D97-AF65-F5344CB8AC3E}">
        <p14:creationId xmlns:p14="http://schemas.microsoft.com/office/powerpoint/2010/main" val="3991188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9CFBA-7278-4EB3-9731-0EC2CA6826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F4736D1-9549-46F6-82E7-ADBB83F78A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52AB9B-6AC1-4A4E-A922-525FB5EA0CD8}"/>
              </a:ext>
            </a:extLst>
          </p:cNvPr>
          <p:cNvSpPr>
            <a:spLocks noGrp="1"/>
          </p:cNvSpPr>
          <p:nvPr>
            <p:ph type="dt" sz="half" idx="10"/>
          </p:nvPr>
        </p:nvSpPr>
        <p:spPr/>
        <p:txBody>
          <a:bodyPr/>
          <a:lstStyle/>
          <a:p>
            <a:fld id="{01E01B02-CFB9-4BE7-AFFD-E66651E1C201}" type="datetimeFigureOut">
              <a:rPr lang="en-US" smtClean="0"/>
              <a:t>2/8/2020</a:t>
            </a:fld>
            <a:endParaRPr lang="en-US"/>
          </a:p>
        </p:txBody>
      </p:sp>
      <p:sp>
        <p:nvSpPr>
          <p:cNvPr id="5" name="Footer Placeholder 4">
            <a:extLst>
              <a:ext uri="{FF2B5EF4-FFF2-40B4-BE49-F238E27FC236}">
                <a16:creationId xmlns:a16="http://schemas.microsoft.com/office/drawing/2014/main" id="{18035F38-1F90-4E8A-A282-D9ED88CD8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310FD0-81EB-48A4-9258-8398DE9F951D}"/>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092680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291A9-88F4-4E90-8C13-8F233660FC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6DEEEA-3E05-42DF-9116-AE885F6EEE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835EB9-23F6-4C86-98BE-9E0C1425437B}"/>
              </a:ext>
            </a:extLst>
          </p:cNvPr>
          <p:cNvSpPr>
            <a:spLocks noGrp="1"/>
          </p:cNvSpPr>
          <p:nvPr>
            <p:ph type="dt" sz="half" idx="10"/>
          </p:nvPr>
        </p:nvSpPr>
        <p:spPr/>
        <p:txBody>
          <a:bodyPr/>
          <a:lstStyle/>
          <a:p>
            <a:fld id="{01E01B02-CFB9-4BE7-AFFD-E66651E1C201}" type="datetimeFigureOut">
              <a:rPr lang="en-US" smtClean="0"/>
              <a:t>2/8/2020</a:t>
            </a:fld>
            <a:endParaRPr lang="en-US"/>
          </a:p>
        </p:txBody>
      </p:sp>
      <p:sp>
        <p:nvSpPr>
          <p:cNvPr id="5" name="Footer Placeholder 4">
            <a:extLst>
              <a:ext uri="{FF2B5EF4-FFF2-40B4-BE49-F238E27FC236}">
                <a16:creationId xmlns:a16="http://schemas.microsoft.com/office/drawing/2014/main" id="{C4BFB126-880B-4535-91D3-24DE5315DE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282CE4-5F0D-492C-A7C4-573DFAFCCE64}"/>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97970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8834F-1BE7-44DD-8ED6-62700B61F1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890E5A-F37E-43F8-9F2B-F1D5FFC2BC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72CB44-75A4-44D8-8DE6-2D637C175B7E}"/>
              </a:ext>
            </a:extLst>
          </p:cNvPr>
          <p:cNvSpPr>
            <a:spLocks noGrp="1"/>
          </p:cNvSpPr>
          <p:nvPr>
            <p:ph type="dt" sz="half" idx="10"/>
          </p:nvPr>
        </p:nvSpPr>
        <p:spPr/>
        <p:txBody>
          <a:bodyPr/>
          <a:lstStyle/>
          <a:p>
            <a:fld id="{01E01B02-CFB9-4BE7-AFFD-E66651E1C201}" type="datetimeFigureOut">
              <a:rPr lang="en-US" smtClean="0"/>
              <a:t>2/8/2020</a:t>
            </a:fld>
            <a:endParaRPr lang="en-US"/>
          </a:p>
        </p:txBody>
      </p:sp>
      <p:sp>
        <p:nvSpPr>
          <p:cNvPr id="5" name="Footer Placeholder 4">
            <a:extLst>
              <a:ext uri="{FF2B5EF4-FFF2-40B4-BE49-F238E27FC236}">
                <a16:creationId xmlns:a16="http://schemas.microsoft.com/office/drawing/2014/main" id="{D6A6318C-9B86-43AE-B62C-6798A7B943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5E21BB-7B39-442C-9A2F-A71606FE7831}"/>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719072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1CDE0-49EB-42CE-982C-3023921EC6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49870B-AB41-452D-AFE5-F9403D30FE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29CBAD-E0D3-4ABC-8395-1D54660963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363517-E313-455F-8B5D-79410964A66E}"/>
              </a:ext>
            </a:extLst>
          </p:cNvPr>
          <p:cNvSpPr>
            <a:spLocks noGrp="1"/>
          </p:cNvSpPr>
          <p:nvPr>
            <p:ph type="dt" sz="half" idx="10"/>
          </p:nvPr>
        </p:nvSpPr>
        <p:spPr/>
        <p:txBody>
          <a:bodyPr/>
          <a:lstStyle/>
          <a:p>
            <a:fld id="{01E01B02-CFB9-4BE7-AFFD-E66651E1C201}" type="datetimeFigureOut">
              <a:rPr lang="en-US" smtClean="0"/>
              <a:t>2/8/2020</a:t>
            </a:fld>
            <a:endParaRPr lang="en-US"/>
          </a:p>
        </p:txBody>
      </p:sp>
      <p:sp>
        <p:nvSpPr>
          <p:cNvPr id="6" name="Footer Placeholder 5">
            <a:extLst>
              <a:ext uri="{FF2B5EF4-FFF2-40B4-BE49-F238E27FC236}">
                <a16:creationId xmlns:a16="http://schemas.microsoft.com/office/drawing/2014/main" id="{262CEB3E-7FD3-437B-8B84-4CBC8AB83C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575424-F69E-436B-8506-27D2346DFC9C}"/>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4208662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0A273-610E-4E32-8B8A-E52ABA77FE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67AA1A-186E-439C-9AA2-F0AE095D09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F6384C-C5F4-41E6-BB14-90EBDF9FA8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08F50F-49EA-4E8F-8608-A81C6D2D62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A6D8C2-9EFE-4B40-8009-3562B94C1A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551CB-552F-4203-B2CE-E93307BE5157}"/>
              </a:ext>
            </a:extLst>
          </p:cNvPr>
          <p:cNvSpPr>
            <a:spLocks noGrp="1"/>
          </p:cNvSpPr>
          <p:nvPr>
            <p:ph type="dt" sz="half" idx="10"/>
          </p:nvPr>
        </p:nvSpPr>
        <p:spPr/>
        <p:txBody>
          <a:bodyPr/>
          <a:lstStyle/>
          <a:p>
            <a:fld id="{01E01B02-CFB9-4BE7-AFFD-E66651E1C201}" type="datetimeFigureOut">
              <a:rPr lang="en-US" smtClean="0"/>
              <a:t>2/8/2020</a:t>
            </a:fld>
            <a:endParaRPr lang="en-US"/>
          </a:p>
        </p:txBody>
      </p:sp>
      <p:sp>
        <p:nvSpPr>
          <p:cNvPr id="8" name="Footer Placeholder 7">
            <a:extLst>
              <a:ext uri="{FF2B5EF4-FFF2-40B4-BE49-F238E27FC236}">
                <a16:creationId xmlns:a16="http://schemas.microsoft.com/office/drawing/2014/main" id="{5B259EAD-F69A-41DA-A5B4-F09581C303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3D2795-7649-472E-ACAC-21F7B92A6552}"/>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6889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68A0B-CD8C-41A2-87C4-5E84235B559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7477AC3-3055-4984-9A8E-C7DE52188D4E}"/>
              </a:ext>
            </a:extLst>
          </p:cNvPr>
          <p:cNvSpPr>
            <a:spLocks noGrp="1"/>
          </p:cNvSpPr>
          <p:nvPr>
            <p:ph type="dt" sz="half" idx="10"/>
          </p:nvPr>
        </p:nvSpPr>
        <p:spPr/>
        <p:txBody>
          <a:bodyPr/>
          <a:lstStyle/>
          <a:p>
            <a:fld id="{01E01B02-CFB9-4BE7-AFFD-E66651E1C201}" type="datetimeFigureOut">
              <a:rPr lang="en-US" smtClean="0"/>
              <a:t>2/8/2020</a:t>
            </a:fld>
            <a:endParaRPr lang="en-US"/>
          </a:p>
        </p:txBody>
      </p:sp>
      <p:sp>
        <p:nvSpPr>
          <p:cNvPr id="4" name="Footer Placeholder 3">
            <a:extLst>
              <a:ext uri="{FF2B5EF4-FFF2-40B4-BE49-F238E27FC236}">
                <a16:creationId xmlns:a16="http://schemas.microsoft.com/office/drawing/2014/main" id="{3B1D6781-3C95-4C3A-A642-6CBD598558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5CCA2B6-0F8A-4464-901A-E9DB3BD2056E}"/>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737958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6A254C-BB94-4794-BEA3-5FAF3195D497}"/>
              </a:ext>
            </a:extLst>
          </p:cNvPr>
          <p:cNvSpPr>
            <a:spLocks noGrp="1"/>
          </p:cNvSpPr>
          <p:nvPr>
            <p:ph type="dt" sz="half" idx="10"/>
          </p:nvPr>
        </p:nvSpPr>
        <p:spPr/>
        <p:txBody>
          <a:bodyPr/>
          <a:lstStyle/>
          <a:p>
            <a:fld id="{01E01B02-CFB9-4BE7-AFFD-E66651E1C201}" type="datetimeFigureOut">
              <a:rPr lang="en-US" smtClean="0"/>
              <a:t>2/8/2020</a:t>
            </a:fld>
            <a:endParaRPr lang="en-US"/>
          </a:p>
        </p:txBody>
      </p:sp>
      <p:sp>
        <p:nvSpPr>
          <p:cNvPr id="3" name="Footer Placeholder 2">
            <a:extLst>
              <a:ext uri="{FF2B5EF4-FFF2-40B4-BE49-F238E27FC236}">
                <a16:creationId xmlns:a16="http://schemas.microsoft.com/office/drawing/2014/main" id="{0F02BB9C-1134-4BC3-8260-BA2B6F56AE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0D7066-657E-48BA-9404-359D9CC51EA1}"/>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1078036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FF829-3243-4B52-8281-E9DDA1F38B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154CC9-3699-44C0-89DC-687A8006B0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442CF5-67A5-4DBF-83FB-3ECFBB4887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510D33-C28F-41CB-9D79-0DF80EEBA07A}"/>
              </a:ext>
            </a:extLst>
          </p:cNvPr>
          <p:cNvSpPr>
            <a:spLocks noGrp="1"/>
          </p:cNvSpPr>
          <p:nvPr>
            <p:ph type="dt" sz="half" idx="10"/>
          </p:nvPr>
        </p:nvSpPr>
        <p:spPr/>
        <p:txBody>
          <a:bodyPr/>
          <a:lstStyle/>
          <a:p>
            <a:fld id="{01E01B02-CFB9-4BE7-AFFD-E66651E1C201}" type="datetimeFigureOut">
              <a:rPr lang="en-US" smtClean="0"/>
              <a:t>2/8/2020</a:t>
            </a:fld>
            <a:endParaRPr lang="en-US"/>
          </a:p>
        </p:txBody>
      </p:sp>
      <p:sp>
        <p:nvSpPr>
          <p:cNvPr id="6" name="Footer Placeholder 5">
            <a:extLst>
              <a:ext uri="{FF2B5EF4-FFF2-40B4-BE49-F238E27FC236}">
                <a16:creationId xmlns:a16="http://schemas.microsoft.com/office/drawing/2014/main" id="{79AC33DC-C239-4AF8-9D1E-E779E15D02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66A338-41FE-4734-B552-5C90AA02B884}"/>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057788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3626-38EC-40FC-81BC-1065A1D106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82D3D4-8C98-4F89-A194-5314F44C4B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BBCA05-EAE4-4A75-9B5F-29F22B4FC9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650693-A768-4B8B-9F75-109A0C237031}"/>
              </a:ext>
            </a:extLst>
          </p:cNvPr>
          <p:cNvSpPr>
            <a:spLocks noGrp="1"/>
          </p:cNvSpPr>
          <p:nvPr>
            <p:ph type="dt" sz="half" idx="10"/>
          </p:nvPr>
        </p:nvSpPr>
        <p:spPr/>
        <p:txBody>
          <a:bodyPr/>
          <a:lstStyle/>
          <a:p>
            <a:fld id="{01E01B02-CFB9-4BE7-AFFD-E66651E1C201}" type="datetimeFigureOut">
              <a:rPr lang="en-US" smtClean="0"/>
              <a:t>2/8/2020</a:t>
            </a:fld>
            <a:endParaRPr lang="en-US"/>
          </a:p>
        </p:txBody>
      </p:sp>
      <p:sp>
        <p:nvSpPr>
          <p:cNvPr id="6" name="Footer Placeholder 5">
            <a:extLst>
              <a:ext uri="{FF2B5EF4-FFF2-40B4-BE49-F238E27FC236}">
                <a16:creationId xmlns:a16="http://schemas.microsoft.com/office/drawing/2014/main" id="{72705722-A632-4957-BEFD-CA108BB95F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7034C4-659F-4689-A76E-263606490B10}"/>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271709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064A0-DAE7-497D-A81A-04DDA7D2DD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C56EF7-54F1-4ABB-8450-E287FA405D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0116C4-249A-4AED-8C24-8A13F2A93BAF}"/>
              </a:ext>
            </a:extLst>
          </p:cNvPr>
          <p:cNvSpPr>
            <a:spLocks noGrp="1"/>
          </p:cNvSpPr>
          <p:nvPr>
            <p:ph type="dt" sz="half" idx="10"/>
          </p:nvPr>
        </p:nvSpPr>
        <p:spPr/>
        <p:txBody>
          <a:bodyPr/>
          <a:lstStyle/>
          <a:p>
            <a:fld id="{01E01B02-CFB9-4BE7-AFFD-E66651E1C201}" type="datetimeFigureOut">
              <a:rPr lang="en-US" smtClean="0"/>
              <a:t>2/8/2020</a:t>
            </a:fld>
            <a:endParaRPr lang="en-US"/>
          </a:p>
        </p:txBody>
      </p:sp>
      <p:sp>
        <p:nvSpPr>
          <p:cNvPr id="5" name="Footer Placeholder 4">
            <a:extLst>
              <a:ext uri="{FF2B5EF4-FFF2-40B4-BE49-F238E27FC236}">
                <a16:creationId xmlns:a16="http://schemas.microsoft.com/office/drawing/2014/main" id="{36B953A9-6C7F-4A0D-BC4B-77B717ABB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6677AD-112F-4BFB-85B0-28EC54B6413B}"/>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3812797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B193EE-D243-4226-9CE6-3A107A07630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5420C8-2A2C-4D59-BB85-A9122D7066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7D92ED-73E0-43F9-9659-5926218A1612}"/>
              </a:ext>
            </a:extLst>
          </p:cNvPr>
          <p:cNvSpPr>
            <a:spLocks noGrp="1"/>
          </p:cNvSpPr>
          <p:nvPr>
            <p:ph type="dt" sz="half" idx="10"/>
          </p:nvPr>
        </p:nvSpPr>
        <p:spPr/>
        <p:txBody>
          <a:bodyPr/>
          <a:lstStyle/>
          <a:p>
            <a:fld id="{01E01B02-CFB9-4BE7-AFFD-E66651E1C201}" type="datetimeFigureOut">
              <a:rPr lang="en-US" smtClean="0"/>
              <a:t>2/8/2020</a:t>
            </a:fld>
            <a:endParaRPr lang="en-US"/>
          </a:p>
        </p:txBody>
      </p:sp>
      <p:sp>
        <p:nvSpPr>
          <p:cNvPr id="5" name="Footer Placeholder 4">
            <a:extLst>
              <a:ext uri="{FF2B5EF4-FFF2-40B4-BE49-F238E27FC236}">
                <a16:creationId xmlns:a16="http://schemas.microsoft.com/office/drawing/2014/main" id="{E5D28322-7817-470B-8A6B-F1D434BA2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82E6F2-BB4F-4B52-B4EE-179AE8CDF7D2}"/>
              </a:ext>
            </a:extLst>
          </p:cNvPr>
          <p:cNvSpPr>
            <a:spLocks noGrp="1"/>
          </p:cNvSpPr>
          <p:nvPr>
            <p:ph type="sldNum" sz="quarter" idx="12"/>
          </p:nvPr>
        </p:nvSpPr>
        <p:spPr/>
        <p:txBody>
          <a:bodyPr/>
          <a:lstStyle/>
          <a:p>
            <a:fld id="{9B6B8275-B259-402B-84A9-4510FAEE6AEF}" type="slidenum">
              <a:rPr lang="en-US" smtClean="0"/>
              <a:t>‹#›</a:t>
            </a:fld>
            <a:endParaRPr lang="en-US"/>
          </a:p>
        </p:txBody>
      </p:sp>
    </p:spTree>
    <p:extLst>
      <p:ext uri="{BB962C8B-B14F-4D97-AF65-F5344CB8AC3E}">
        <p14:creationId xmlns:p14="http://schemas.microsoft.com/office/powerpoint/2010/main" val="225044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AAFC31-B832-4BF1-B059-70054D1400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561D12-50BE-4FF9-957D-5A61FFDA85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20FBD4-EC49-4302-9342-57454FC6B2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E01B02-CFB9-4BE7-AFFD-E66651E1C201}" type="datetimeFigureOut">
              <a:rPr lang="en-US" smtClean="0"/>
              <a:t>2/8/2020</a:t>
            </a:fld>
            <a:endParaRPr lang="en-US"/>
          </a:p>
        </p:txBody>
      </p:sp>
      <p:sp>
        <p:nvSpPr>
          <p:cNvPr id="5" name="Footer Placeholder 4">
            <a:extLst>
              <a:ext uri="{FF2B5EF4-FFF2-40B4-BE49-F238E27FC236}">
                <a16:creationId xmlns:a16="http://schemas.microsoft.com/office/drawing/2014/main" id="{DC89B591-E304-4539-84E8-50F8F8580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6072A4-F25A-4550-BEDC-84064985EA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B8275-B259-402B-84A9-4510FAEE6AEF}" type="slidenum">
              <a:rPr lang="en-US" smtClean="0"/>
              <a:t>‹#›</a:t>
            </a:fld>
            <a:endParaRPr lang="en-US"/>
          </a:p>
        </p:txBody>
      </p:sp>
    </p:spTree>
    <p:extLst>
      <p:ext uri="{BB962C8B-B14F-4D97-AF65-F5344CB8AC3E}">
        <p14:creationId xmlns:p14="http://schemas.microsoft.com/office/powerpoint/2010/main" val="3571546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1458A-1DC2-4BD0-80E7-B5B1D2F0350F}"/>
              </a:ext>
            </a:extLst>
          </p:cNvPr>
          <p:cNvSpPr>
            <a:spLocks noGrp="1"/>
          </p:cNvSpPr>
          <p:nvPr>
            <p:ph type="ctrTitle"/>
          </p:nvPr>
        </p:nvSpPr>
        <p:spPr/>
        <p:txBody>
          <a:bodyPr>
            <a:normAutofit/>
          </a:bodyPr>
          <a:lstStyle/>
          <a:p>
            <a:r>
              <a:rPr lang="en-US" dirty="0"/>
              <a:t>Develop Python pipeline:</a:t>
            </a:r>
            <a:br>
              <a:rPr lang="en-US" dirty="0"/>
            </a:br>
            <a:r>
              <a:rPr lang="en-US" dirty="0"/>
              <a:t>Unit Testing</a:t>
            </a:r>
          </a:p>
        </p:txBody>
      </p:sp>
      <p:sp>
        <p:nvSpPr>
          <p:cNvPr id="3" name="Subtitle 2">
            <a:extLst>
              <a:ext uri="{FF2B5EF4-FFF2-40B4-BE49-F238E27FC236}">
                <a16:creationId xmlns:a16="http://schemas.microsoft.com/office/drawing/2014/main" id="{5930F043-6162-49F5-A5C0-1CA1BC2BE72D}"/>
              </a:ext>
            </a:extLst>
          </p:cNvPr>
          <p:cNvSpPr>
            <a:spLocks noGrp="1"/>
          </p:cNvSpPr>
          <p:nvPr>
            <p:ph type="subTitle" idx="1"/>
          </p:nvPr>
        </p:nvSpPr>
        <p:spPr>
          <a:xfrm>
            <a:off x="1524000" y="4235116"/>
            <a:ext cx="9144000" cy="1022684"/>
          </a:xfrm>
        </p:spPr>
        <p:txBody>
          <a:bodyPr/>
          <a:lstStyle/>
          <a:p>
            <a:r>
              <a:rPr lang="en-US" dirty="0"/>
              <a:t>Tiezheng Yuan</a:t>
            </a:r>
          </a:p>
          <a:p>
            <a:r>
              <a:rPr lang="en-US" dirty="0"/>
              <a:t>Feb 08, 2020</a:t>
            </a:r>
          </a:p>
        </p:txBody>
      </p:sp>
    </p:spTree>
    <p:extLst>
      <p:ext uri="{BB962C8B-B14F-4D97-AF65-F5344CB8AC3E}">
        <p14:creationId xmlns:p14="http://schemas.microsoft.com/office/powerpoint/2010/main" val="2805599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9BEF9-398D-40DC-8C97-248AEB2CE52A}"/>
              </a:ext>
            </a:extLst>
          </p:cNvPr>
          <p:cNvSpPr>
            <a:spLocks noGrp="1"/>
          </p:cNvSpPr>
          <p:nvPr>
            <p:ph type="title"/>
          </p:nvPr>
        </p:nvSpPr>
        <p:spPr/>
        <p:txBody>
          <a:bodyPr/>
          <a:lstStyle/>
          <a:p>
            <a:pPr algn="ctr"/>
            <a:r>
              <a:rPr lang="en-US" dirty="0"/>
              <a:t>Unit testing</a:t>
            </a:r>
          </a:p>
        </p:txBody>
      </p:sp>
      <p:sp>
        <p:nvSpPr>
          <p:cNvPr id="3" name="Content Placeholder 2">
            <a:extLst>
              <a:ext uri="{FF2B5EF4-FFF2-40B4-BE49-F238E27FC236}">
                <a16:creationId xmlns:a16="http://schemas.microsoft.com/office/drawing/2014/main" id="{D042904E-5B2A-42E8-8042-C4F9429711E6}"/>
              </a:ext>
            </a:extLst>
          </p:cNvPr>
          <p:cNvSpPr>
            <a:spLocks noGrp="1"/>
          </p:cNvSpPr>
          <p:nvPr>
            <p:ph idx="1"/>
          </p:nvPr>
        </p:nvSpPr>
        <p:spPr>
          <a:xfrm>
            <a:off x="632927" y="1471062"/>
            <a:ext cx="10515600" cy="1038874"/>
          </a:xfrm>
        </p:spPr>
        <p:txBody>
          <a:bodyPr>
            <a:normAutofit/>
          </a:bodyPr>
          <a:lstStyle/>
          <a:p>
            <a:pPr marL="0" indent="0">
              <a:buNone/>
            </a:pPr>
            <a:r>
              <a:rPr lang="en-US" sz="3200" b="1" dirty="0"/>
              <a:t>Unit testing</a:t>
            </a:r>
            <a:r>
              <a:rPr lang="en-US" sz="3200" dirty="0"/>
              <a:t> is the process of testing individual units of source code.</a:t>
            </a:r>
          </a:p>
        </p:txBody>
      </p:sp>
      <p:sp>
        <p:nvSpPr>
          <p:cNvPr id="4" name="Content Placeholder 2">
            <a:extLst>
              <a:ext uri="{FF2B5EF4-FFF2-40B4-BE49-F238E27FC236}">
                <a16:creationId xmlns:a16="http://schemas.microsoft.com/office/drawing/2014/main" id="{E5FCC777-3D92-485C-A1E6-BDD311A0E6BE}"/>
              </a:ext>
            </a:extLst>
          </p:cNvPr>
          <p:cNvSpPr txBox="1">
            <a:spLocks/>
          </p:cNvSpPr>
          <p:nvPr/>
        </p:nvSpPr>
        <p:spPr>
          <a:xfrm>
            <a:off x="990600" y="2796625"/>
            <a:ext cx="10515600" cy="38486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In large project, developers and testers are different roles. In terms of development of python pipeline, developers often work as testers.</a:t>
            </a:r>
          </a:p>
          <a:p>
            <a:r>
              <a:rPr lang="en-US" sz="3200" dirty="0"/>
              <a:t>White-box testing and Black-box testing.</a:t>
            </a:r>
            <a:br>
              <a:rPr lang="en-US" sz="3200" dirty="0"/>
            </a:br>
            <a:r>
              <a:rPr lang="en-US" dirty="0"/>
              <a:t>White-box testing considers internal mechanism of source code.</a:t>
            </a:r>
          </a:p>
          <a:p>
            <a:r>
              <a:rPr lang="en-US" sz="3200" dirty="0"/>
              <a:t>Goals of unit testing: </a:t>
            </a:r>
            <a:br>
              <a:rPr lang="en-US" sz="3200" dirty="0"/>
            </a:br>
            <a:r>
              <a:rPr lang="en-US" sz="3200" dirty="0"/>
              <a:t>Verify the correctness of source code.</a:t>
            </a:r>
            <a:br>
              <a:rPr lang="en-US" sz="3200" dirty="0"/>
            </a:br>
            <a:r>
              <a:rPr lang="en-US" sz="3200" dirty="0"/>
              <a:t>Validate the robustness and functionality.</a:t>
            </a:r>
          </a:p>
        </p:txBody>
      </p:sp>
    </p:spTree>
    <p:extLst>
      <p:ext uri="{BB962C8B-B14F-4D97-AF65-F5344CB8AC3E}">
        <p14:creationId xmlns:p14="http://schemas.microsoft.com/office/powerpoint/2010/main" val="215641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36A3D-5571-490D-95DD-1B1028BD3AFD}"/>
              </a:ext>
            </a:extLst>
          </p:cNvPr>
          <p:cNvSpPr>
            <a:spLocks noGrp="1"/>
          </p:cNvSpPr>
          <p:nvPr>
            <p:ph type="title"/>
          </p:nvPr>
        </p:nvSpPr>
        <p:spPr/>
        <p:txBody>
          <a:bodyPr/>
          <a:lstStyle/>
          <a:p>
            <a:pPr algn="ctr"/>
            <a:r>
              <a:rPr lang="en-US" dirty="0"/>
              <a:t>Prepare white-box unit testing</a:t>
            </a:r>
          </a:p>
        </p:txBody>
      </p:sp>
      <p:sp>
        <p:nvSpPr>
          <p:cNvPr id="3" name="Content Placeholder 2">
            <a:extLst>
              <a:ext uri="{FF2B5EF4-FFF2-40B4-BE49-F238E27FC236}">
                <a16:creationId xmlns:a16="http://schemas.microsoft.com/office/drawing/2014/main" id="{DE2585D4-2A8C-4695-8702-581CB4177AE2}"/>
              </a:ext>
            </a:extLst>
          </p:cNvPr>
          <p:cNvSpPr>
            <a:spLocks noGrp="1"/>
          </p:cNvSpPr>
          <p:nvPr>
            <p:ph idx="1"/>
          </p:nvPr>
        </p:nvSpPr>
        <p:spPr>
          <a:xfrm>
            <a:off x="838200" y="1825625"/>
            <a:ext cx="10515600" cy="4667250"/>
          </a:xfrm>
        </p:spPr>
        <p:txBody>
          <a:bodyPr>
            <a:normAutofit/>
          </a:bodyPr>
          <a:lstStyle/>
          <a:p>
            <a:r>
              <a:rPr lang="en-US" sz="3200" dirty="0"/>
              <a:t>Design basic testing path and prepare data for testing</a:t>
            </a:r>
          </a:p>
          <a:p>
            <a:r>
              <a:rPr lang="en-US" sz="3200" dirty="0"/>
              <a:t>Prepare testing plan</a:t>
            </a:r>
          </a:p>
          <a:p>
            <a:r>
              <a:rPr lang="en-US" sz="3200" dirty="0"/>
              <a:t>Build testing repository</a:t>
            </a:r>
          </a:p>
          <a:p>
            <a:r>
              <a:rPr lang="en-US" sz="3200" dirty="0"/>
              <a:t>Create separate Python scripts for testing</a:t>
            </a:r>
          </a:p>
          <a:p>
            <a:r>
              <a:rPr lang="en-US" sz="3200" dirty="0"/>
              <a:t>Version control: The version of testing unit should keep up with the version of the source code that is subject to testing.</a:t>
            </a:r>
          </a:p>
          <a:p>
            <a:endParaRPr lang="en-US" sz="3200" dirty="0"/>
          </a:p>
        </p:txBody>
      </p:sp>
    </p:spTree>
    <p:extLst>
      <p:ext uri="{BB962C8B-B14F-4D97-AF65-F5344CB8AC3E}">
        <p14:creationId xmlns:p14="http://schemas.microsoft.com/office/powerpoint/2010/main" val="2063677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770ED-B4B6-4EB6-ADCB-DC4DD76142F2}"/>
              </a:ext>
            </a:extLst>
          </p:cNvPr>
          <p:cNvSpPr>
            <a:spLocks noGrp="1"/>
          </p:cNvSpPr>
          <p:nvPr>
            <p:ph type="title"/>
          </p:nvPr>
        </p:nvSpPr>
        <p:spPr/>
        <p:txBody>
          <a:bodyPr/>
          <a:lstStyle/>
          <a:p>
            <a:pPr algn="ctr"/>
            <a:r>
              <a:rPr lang="en-US" b="1" dirty="0"/>
              <a:t>Build test cases</a:t>
            </a:r>
            <a:r>
              <a:rPr lang="en-US" dirty="0"/>
              <a:t>: Test a function for</a:t>
            </a:r>
            <a:br>
              <a:rPr lang="en-US" dirty="0"/>
            </a:br>
            <a:r>
              <a:rPr lang="en-US" dirty="0"/>
              <a:t>reversing DNA sequence</a:t>
            </a:r>
          </a:p>
        </p:txBody>
      </p:sp>
      <p:sp>
        <p:nvSpPr>
          <p:cNvPr id="4" name="Content Placeholder 2">
            <a:extLst>
              <a:ext uri="{FF2B5EF4-FFF2-40B4-BE49-F238E27FC236}">
                <a16:creationId xmlns:a16="http://schemas.microsoft.com/office/drawing/2014/main" id="{C9F64B1E-AF9B-41FB-9514-83AF3C3333CC}"/>
              </a:ext>
            </a:extLst>
          </p:cNvPr>
          <p:cNvSpPr txBox="1">
            <a:spLocks/>
          </p:cNvSpPr>
          <p:nvPr/>
        </p:nvSpPr>
        <p:spPr>
          <a:xfrm>
            <a:off x="838200" y="2052320"/>
            <a:ext cx="11079480" cy="464375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a short DNA sequence: ATCTG</a:t>
            </a:r>
          </a:p>
          <a:p>
            <a:r>
              <a:rPr lang="en-US" sz="3200" dirty="0"/>
              <a:t>a long DNA sequence: ATCTG….</a:t>
            </a:r>
          </a:p>
          <a:p>
            <a:r>
              <a:rPr lang="en-US" sz="3200" dirty="0"/>
              <a:t>a numeric sequence: “3434”</a:t>
            </a:r>
          </a:p>
          <a:p>
            <a:r>
              <a:rPr lang="en-US" sz="3200" dirty="0"/>
              <a:t>a null string: “” </a:t>
            </a:r>
          </a:p>
          <a:p>
            <a:r>
              <a:rPr lang="en-US" sz="3200" dirty="0"/>
              <a:t>an amino acid sequence: “ATGUL”</a:t>
            </a:r>
          </a:p>
          <a:p>
            <a:r>
              <a:rPr lang="en-US" sz="3200" dirty="0"/>
              <a:t>a RNA sequence: “AGUC”</a:t>
            </a:r>
          </a:p>
          <a:p>
            <a:r>
              <a:rPr lang="en-US" sz="3200" dirty="0"/>
              <a:t>a DNA sequence with illegal (none A/T/G/C) characters: ”ATG3C”</a:t>
            </a:r>
          </a:p>
          <a:p>
            <a:r>
              <a:rPr lang="en-US" sz="3200" dirty="0"/>
              <a:t>a DNA sequence with unreadable characters: ”ATG^C”</a:t>
            </a:r>
          </a:p>
          <a:p>
            <a:pPr marL="0" indent="0">
              <a:buNone/>
            </a:pPr>
            <a:endParaRPr lang="en-US" sz="3200" dirty="0"/>
          </a:p>
          <a:p>
            <a:endParaRPr lang="en-US" sz="3200" dirty="0"/>
          </a:p>
        </p:txBody>
      </p:sp>
    </p:spTree>
    <p:extLst>
      <p:ext uri="{BB962C8B-B14F-4D97-AF65-F5344CB8AC3E}">
        <p14:creationId xmlns:p14="http://schemas.microsoft.com/office/powerpoint/2010/main" val="3556364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F83730-A74C-4A5B-9428-C18E532354C5}"/>
              </a:ext>
            </a:extLst>
          </p:cNvPr>
          <p:cNvPicPr>
            <a:picLocks noChangeAspect="1"/>
          </p:cNvPicPr>
          <p:nvPr/>
        </p:nvPicPr>
        <p:blipFill rotWithShape="1">
          <a:blip r:embed="rId3"/>
          <a:srcRect l="3500" t="19244" r="29333" b="9314"/>
          <a:stretch/>
        </p:blipFill>
        <p:spPr>
          <a:xfrm>
            <a:off x="1597396" y="574040"/>
            <a:ext cx="9548123" cy="5709920"/>
          </a:xfrm>
          <a:prstGeom prst="rect">
            <a:avLst/>
          </a:prstGeom>
        </p:spPr>
      </p:pic>
      <p:sp>
        <p:nvSpPr>
          <p:cNvPr id="2" name="Title 1">
            <a:extLst>
              <a:ext uri="{FF2B5EF4-FFF2-40B4-BE49-F238E27FC236}">
                <a16:creationId xmlns:a16="http://schemas.microsoft.com/office/drawing/2014/main" id="{3B6128CB-9E07-47DC-A844-FAB0B349A53A}"/>
              </a:ext>
            </a:extLst>
          </p:cNvPr>
          <p:cNvSpPr>
            <a:spLocks noGrp="1"/>
          </p:cNvSpPr>
          <p:nvPr>
            <p:ph type="title"/>
          </p:nvPr>
        </p:nvSpPr>
        <p:spPr>
          <a:xfrm>
            <a:off x="2199640" y="2640965"/>
            <a:ext cx="2941320" cy="2743835"/>
          </a:xfrm>
        </p:spPr>
        <p:txBody>
          <a:bodyPr/>
          <a:lstStyle/>
          <a:p>
            <a:pPr algn="ctr"/>
            <a:r>
              <a:rPr lang="en-US" dirty="0"/>
              <a:t>Unit testing tools in Python</a:t>
            </a:r>
          </a:p>
        </p:txBody>
      </p:sp>
    </p:spTree>
    <p:extLst>
      <p:ext uri="{BB962C8B-B14F-4D97-AF65-F5344CB8AC3E}">
        <p14:creationId xmlns:p14="http://schemas.microsoft.com/office/powerpoint/2010/main" val="1186392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01C1A-5AF0-4EC6-802E-E18B191739B9}"/>
              </a:ext>
            </a:extLst>
          </p:cNvPr>
          <p:cNvSpPr>
            <a:spLocks noGrp="1"/>
          </p:cNvSpPr>
          <p:nvPr>
            <p:ph type="title"/>
          </p:nvPr>
        </p:nvSpPr>
        <p:spPr/>
        <p:txBody>
          <a:bodyPr/>
          <a:lstStyle/>
          <a:p>
            <a:pPr algn="ctr"/>
            <a:r>
              <a:rPr lang="en-US" dirty="0"/>
              <a:t>Practices of unit testing</a:t>
            </a:r>
          </a:p>
        </p:txBody>
      </p:sp>
      <p:sp>
        <p:nvSpPr>
          <p:cNvPr id="3" name="Content Placeholder 2">
            <a:extLst>
              <a:ext uri="{FF2B5EF4-FFF2-40B4-BE49-F238E27FC236}">
                <a16:creationId xmlns:a16="http://schemas.microsoft.com/office/drawing/2014/main" id="{8B0B03A2-8280-4908-94AF-4186AD461124}"/>
              </a:ext>
            </a:extLst>
          </p:cNvPr>
          <p:cNvSpPr>
            <a:spLocks noGrp="1"/>
          </p:cNvSpPr>
          <p:nvPr>
            <p:ph idx="1"/>
          </p:nvPr>
        </p:nvSpPr>
        <p:spPr>
          <a:xfrm>
            <a:off x="838200" y="1825625"/>
            <a:ext cx="11049000" cy="4667250"/>
          </a:xfrm>
        </p:spPr>
        <p:txBody>
          <a:bodyPr>
            <a:normAutofit lnSpcReduction="10000"/>
          </a:bodyPr>
          <a:lstStyle/>
          <a:p>
            <a:r>
              <a:rPr lang="en-US" sz="3200" dirty="0"/>
              <a:t>Correctness: This is a basic requirement. </a:t>
            </a:r>
            <a:r>
              <a:rPr lang="en-US" sz="3200" b="1" dirty="0"/>
              <a:t>No bug</a:t>
            </a:r>
          </a:p>
          <a:p>
            <a:r>
              <a:rPr lang="en-US" sz="3200" dirty="0"/>
              <a:t>Robustness: Consider to test extreme conditions.</a:t>
            </a:r>
          </a:p>
          <a:p>
            <a:r>
              <a:rPr lang="en-US" sz="3200" dirty="0"/>
              <a:t>Coverage: Cover all methods and all functionalities of a method.</a:t>
            </a:r>
          </a:p>
          <a:p>
            <a:r>
              <a:rPr lang="en-US" sz="3200" dirty="0"/>
              <a:t>Build separate repository for testing even if the developer and tester are the same person</a:t>
            </a:r>
          </a:p>
          <a:p>
            <a:r>
              <a:rPr lang="en-US" sz="3200" dirty="0"/>
              <a:t>Specificity: One method, and one test case. Keep notes of version control.</a:t>
            </a:r>
          </a:p>
          <a:p>
            <a:r>
              <a:rPr lang="en-US" sz="3200" dirty="0"/>
              <a:t>Isolation: Only test the unit itself. Consider mock-up approach if it is required.</a:t>
            </a:r>
          </a:p>
        </p:txBody>
      </p:sp>
    </p:spTree>
    <p:extLst>
      <p:ext uri="{BB962C8B-B14F-4D97-AF65-F5344CB8AC3E}">
        <p14:creationId xmlns:p14="http://schemas.microsoft.com/office/powerpoint/2010/main" val="24846504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5334</TotalTime>
  <Words>535</Words>
  <Application>Microsoft Office PowerPoint</Application>
  <PresentationFormat>Widescreen</PresentationFormat>
  <Paragraphs>43</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Develop Python pipeline: Unit Testing</vt:lpstr>
      <vt:lpstr>Unit testing</vt:lpstr>
      <vt:lpstr>Prepare white-box unit testing</vt:lpstr>
      <vt:lpstr>Build test cases: Test a function for reversing DNA sequence</vt:lpstr>
      <vt:lpstr>Unit testing tools in Python</vt:lpstr>
      <vt:lpstr>Practices of unit testing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 Python pipeline: Objects and Classes</dc:title>
  <dc:creator>Tiezheng Yuan</dc:creator>
  <cp:lastModifiedBy>Tiezheng Yuan</cp:lastModifiedBy>
  <cp:revision>116</cp:revision>
  <dcterms:created xsi:type="dcterms:W3CDTF">2020-01-31T22:01:04Z</dcterms:created>
  <dcterms:modified xsi:type="dcterms:W3CDTF">2020-02-08T15:16:03Z</dcterms:modified>
</cp:coreProperties>
</file>