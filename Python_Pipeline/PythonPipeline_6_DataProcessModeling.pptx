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73878" autoAdjust="0"/>
  </p:normalViewPr>
  <p:slideViewPr>
    <p:cSldViewPr snapToGrid="0">
      <p:cViewPr varScale="1">
        <p:scale>
          <a:sx n="39" d="100"/>
          <a:sy n="39" d="100"/>
        </p:scale>
        <p:origin x="123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135E18-C188-4B80-9445-659122C614DD}" type="datetimeFigureOut">
              <a:rPr lang="en-US" smtClean="0"/>
              <a:t>2/5/2020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26EDF5-73A9-4F30-B1A6-8B6AF30FC97A}" type="slidenum">
              <a:rPr lang="en-US" smtClean="0"/>
              <a:t>‹#›</a:t>
            </a:fld>
            <a:endParaRPr lang="en-US"/>
          </a:p>
        </p:txBody>
      </p:sp>
    </p:spTree>
    <p:extLst>
      <p:ext uri="{BB962C8B-B14F-4D97-AF65-F5344CB8AC3E}">
        <p14:creationId xmlns:p14="http://schemas.microsoft.com/office/powerpoint/2010/main" val="1579761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Today I am going to introduce what is data and process modeling in Python programming.</a:t>
            </a:r>
          </a:p>
        </p:txBody>
      </p:sp>
      <p:sp>
        <p:nvSpPr>
          <p:cNvPr id="4" name="Slide Number Placeholder 3"/>
          <p:cNvSpPr>
            <a:spLocks noGrp="1"/>
          </p:cNvSpPr>
          <p:nvPr>
            <p:ph type="sldNum" sz="quarter" idx="5"/>
          </p:nvPr>
        </p:nvSpPr>
        <p:spPr/>
        <p:txBody>
          <a:bodyPr/>
          <a:lstStyle/>
          <a:p>
            <a:fld id="{E526EDF5-73A9-4F30-B1A6-8B6AF30FC97A}" type="slidenum">
              <a:rPr lang="en-US" smtClean="0"/>
              <a:t>1</a:t>
            </a:fld>
            <a:endParaRPr lang="en-US"/>
          </a:p>
        </p:txBody>
      </p:sp>
    </p:spTree>
    <p:extLst>
      <p:ext uri="{BB962C8B-B14F-4D97-AF65-F5344CB8AC3E}">
        <p14:creationId xmlns:p14="http://schemas.microsoft.com/office/powerpoint/2010/main" val="59154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In this context, data and process modeling shows how an pipeline </a:t>
            </a:r>
            <a:r>
              <a:rPr lang="en-US" sz="1200" b="1" dirty="0"/>
              <a:t>convert data into useful information</a:t>
            </a:r>
            <a:r>
              <a:rPr lang="en-US" sz="1200" dirty="0"/>
              <a:t>.</a:t>
            </a:r>
          </a:p>
          <a:p>
            <a:r>
              <a:rPr lang="en-US" sz="1200" dirty="0"/>
              <a:t>data and process modeling is a </a:t>
            </a:r>
            <a:r>
              <a:rPr lang="en-US" sz="1200" b="1" dirty="0"/>
              <a:t>logistic modeling</a:t>
            </a:r>
            <a:r>
              <a:rPr lang="en-US" sz="1200" dirty="0"/>
              <a:t>, showing what the pipeline should do, regardless of how the pipeline is implemented physically. In data and process modeling, some visual tools are used to aid analysis. They are Data Flow Diagram (DFD) and Process Flow Chart</a:t>
            </a:r>
            <a:endParaRPr lang="en-US" dirty="0"/>
          </a:p>
        </p:txBody>
      </p:sp>
      <p:sp>
        <p:nvSpPr>
          <p:cNvPr id="4" name="Slide Number Placeholder 3"/>
          <p:cNvSpPr>
            <a:spLocks noGrp="1"/>
          </p:cNvSpPr>
          <p:nvPr>
            <p:ph type="sldNum" sz="quarter" idx="5"/>
          </p:nvPr>
        </p:nvSpPr>
        <p:spPr/>
        <p:txBody>
          <a:bodyPr/>
          <a:lstStyle/>
          <a:p>
            <a:fld id="{E526EDF5-73A9-4F30-B1A6-8B6AF30FC97A}" type="slidenum">
              <a:rPr lang="en-US" smtClean="0"/>
              <a:t>2</a:t>
            </a:fld>
            <a:endParaRPr lang="en-US"/>
          </a:p>
        </p:txBody>
      </p:sp>
    </p:spTree>
    <p:extLst>
      <p:ext uri="{BB962C8B-B14F-4D97-AF65-F5344CB8AC3E}">
        <p14:creationId xmlns:p14="http://schemas.microsoft.com/office/powerpoint/2010/main" val="3760723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am going to show you an example.</a:t>
            </a:r>
          </a:p>
          <a:p>
            <a:r>
              <a:rPr lang="en-US" dirty="0"/>
              <a:t>This is a context diagram DFD for a software - biomedical data organizer.  Scientists and managers employ the software to schedule tasks, manage data, and track progress. Four physical entities are identified: manager, customer staff, biomedical specialist, and bioinformatician. Two logical entities are used for data stores. Major processes are defined showed as arrow lines.</a:t>
            </a:r>
          </a:p>
        </p:txBody>
      </p:sp>
      <p:sp>
        <p:nvSpPr>
          <p:cNvPr id="4" name="Slide Number Placeholder 3"/>
          <p:cNvSpPr>
            <a:spLocks noGrp="1"/>
          </p:cNvSpPr>
          <p:nvPr>
            <p:ph type="sldNum" sz="quarter" idx="5"/>
          </p:nvPr>
        </p:nvSpPr>
        <p:spPr/>
        <p:txBody>
          <a:bodyPr/>
          <a:lstStyle/>
          <a:p>
            <a:fld id="{E526EDF5-73A9-4F30-B1A6-8B6AF30FC97A}" type="slidenum">
              <a:rPr lang="en-US" smtClean="0"/>
              <a:t>4</a:t>
            </a:fld>
            <a:endParaRPr lang="en-US"/>
          </a:p>
        </p:txBody>
      </p:sp>
    </p:spTree>
    <p:extLst>
      <p:ext uri="{BB962C8B-B14F-4D97-AF65-F5344CB8AC3E}">
        <p14:creationId xmlns:p14="http://schemas.microsoft.com/office/powerpoint/2010/main" val="2768780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DFD is very useful for pipeline  development. DFD helps us to identify all entities and processes involved in the pipelines.  The contents of DFD is summarized based on the achievement of previous requirement analysis. DFD helps us to conduct the next stage work in pipeline life cycle. The entities defined in DFD could be converted to classes in OOP, and processes could be translated into methods or functions.</a:t>
            </a:r>
          </a:p>
          <a:p>
            <a:endParaRPr lang="en-US" dirty="0"/>
          </a:p>
        </p:txBody>
      </p:sp>
      <p:sp>
        <p:nvSpPr>
          <p:cNvPr id="4" name="Slide Number Placeholder 3"/>
          <p:cNvSpPr>
            <a:spLocks noGrp="1"/>
          </p:cNvSpPr>
          <p:nvPr>
            <p:ph type="sldNum" sz="quarter" idx="5"/>
          </p:nvPr>
        </p:nvSpPr>
        <p:spPr/>
        <p:txBody>
          <a:bodyPr/>
          <a:lstStyle/>
          <a:p>
            <a:fld id="{E526EDF5-73A9-4F30-B1A6-8B6AF30FC97A}" type="slidenum">
              <a:rPr lang="en-US" smtClean="0"/>
              <a:t>5</a:t>
            </a:fld>
            <a:endParaRPr lang="en-US"/>
          </a:p>
        </p:txBody>
      </p:sp>
    </p:spTree>
    <p:extLst>
      <p:ext uri="{BB962C8B-B14F-4D97-AF65-F5344CB8AC3E}">
        <p14:creationId xmlns:p14="http://schemas.microsoft.com/office/powerpoint/2010/main" val="1707397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Process description shows logistic steps of the pipeline operations, which correspond with operations in real world.</a:t>
            </a:r>
          </a:p>
          <a:p>
            <a:r>
              <a:rPr lang="en-US" dirty="0"/>
              <a:t>This is an example- a pipeline used for analyzing RNA-seq. This sequence structure shows process structure. All steps required for RNA-seq analysis: prepare data: </a:t>
            </a:r>
            <a:r>
              <a:rPr lang="en-US" dirty="0" err="1"/>
              <a:t>fastq</a:t>
            </a:r>
            <a:r>
              <a:rPr lang="en-US" dirty="0"/>
              <a:t> files and genome references and annotation files,  verify parameters for bioinformatic tools, conduct genome mapping and transcripts assembly, and finally gather read counts for further statistical analysis.</a:t>
            </a:r>
          </a:p>
        </p:txBody>
      </p:sp>
      <p:sp>
        <p:nvSpPr>
          <p:cNvPr id="4" name="Slide Number Placeholder 3"/>
          <p:cNvSpPr>
            <a:spLocks noGrp="1"/>
          </p:cNvSpPr>
          <p:nvPr>
            <p:ph type="sldNum" sz="quarter" idx="5"/>
          </p:nvPr>
        </p:nvSpPr>
        <p:spPr/>
        <p:txBody>
          <a:bodyPr/>
          <a:lstStyle/>
          <a:p>
            <a:fld id="{E526EDF5-73A9-4F30-B1A6-8B6AF30FC97A}" type="slidenum">
              <a:rPr lang="en-US" smtClean="0"/>
              <a:t>6</a:t>
            </a:fld>
            <a:endParaRPr lang="en-US"/>
          </a:p>
        </p:txBody>
      </p:sp>
    </p:spTree>
    <p:extLst>
      <p:ext uri="{BB962C8B-B14F-4D97-AF65-F5344CB8AC3E}">
        <p14:creationId xmlns:p14="http://schemas.microsoft.com/office/powerpoint/2010/main" val="1661679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PD helps us to understand business logics in real world, which should be translated into pipeline design.</a:t>
            </a:r>
          </a:p>
          <a:p>
            <a:r>
              <a:rPr lang="en-US" sz="1200" dirty="0"/>
              <a:t>PD helps us to identify critical path and milestones in pipeline development life cycle.</a:t>
            </a:r>
          </a:p>
          <a:p>
            <a:r>
              <a:rPr lang="en-US" sz="1200" dirty="0"/>
              <a:t>PD and DFD combined depict a blue picture of object modeling.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PD is readable for those stakeholders without too much technical background.</a:t>
            </a:r>
          </a:p>
          <a:p>
            <a:endParaRPr lang="en-US" sz="1200" dirty="0"/>
          </a:p>
          <a:p>
            <a:endParaRPr lang="en-US" dirty="0"/>
          </a:p>
        </p:txBody>
      </p:sp>
      <p:sp>
        <p:nvSpPr>
          <p:cNvPr id="4" name="Slide Number Placeholder 3"/>
          <p:cNvSpPr>
            <a:spLocks noGrp="1"/>
          </p:cNvSpPr>
          <p:nvPr>
            <p:ph type="sldNum" sz="quarter" idx="5"/>
          </p:nvPr>
        </p:nvSpPr>
        <p:spPr/>
        <p:txBody>
          <a:bodyPr/>
          <a:lstStyle/>
          <a:p>
            <a:fld id="{E526EDF5-73A9-4F30-B1A6-8B6AF30FC97A}" type="slidenum">
              <a:rPr lang="en-US" smtClean="0"/>
              <a:t>7</a:t>
            </a:fld>
            <a:endParaRPr lang="en-US"/>
          </a:p>
        </p:txBody>
      </p:sp>
    </p:spTree>
    <p:extLst>
      <p:ext uri="{BB962C8B-B14F-4D97-AF65-F5344CB8AC3E}">
        <p14:creationId xmlns:p14="http://schemas.microsoft.com/office/powerpoint/2010/main" val="4266650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9CFBA-7278-4EB3-9731-0EC2CA6826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4736D1-9549-46F6-82E7-ADBB83F78A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52AB9B-6AC1-4A4E-A922-525FB5EA0CD8}"/>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5" name="Footer Placeholder 4">
            <a:extLst>
              <a:ext uri="{FF2B5EF4-FFF2-40B4-BE49-F238E27FC236}">
                <a16:creationId xmlns:a16="http://schemas.microsoft.com/office/drawing/2014/main" id="{18035F38-1F90-4E8A-A282-D9ED88CD8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310FD0-81EB-48A4-9258-8398DE9F951D}"/>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092680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91A9-88F4-4E90-8C13-8F233660FC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6DEEEA-3E05-42DF-9116-AE885F6EEE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835EB9-23F6-4C86-98BE-9E0C1425437B}"/>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5" name="Footer Placeholder 4">
            <a:extLst>
              <a:ext uri="{FF2B5EF4-FFF2-40B4-BE49-F238E27FC236}">
                <a16:creationId xmlns:a16="http://schemas.microsoft.com/office/drawing/2014/main" id="{C4BFB126-880B-4535-91D3-24DE5315DE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282CE4-5F0D-492C-A7C4-573DFAFCCE64}"/>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979708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8834F-1BE7-44DD-8ED6-62700B61F1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890E5A-F37E-43F8-9F2B-F1D5FFC2BC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72CB44-75A4-44D8-8DE6-2D637C175B7E}"/>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5" name="Footer Placeholder 4">
            <a:extLst>
              <a:ext uri="{FF2B5EF4-FFF2-40B4-BE49-F238E27FC236}">
                <a16:creationId xmlns:a16="http://schemas.microsoft.com/office/drawing/2014/main" id="{D6A6318C-9B86-43AE-B62C-6798A7B94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5E21BB-7B39-442C-9A2F-A71606FE7831}"/>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719072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1CDE0-49EB-42CE-982C-3023921EC6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49870B-AB41-452D-AFE5-F9403D30FE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29CBAD-E0D3-4ABC-8395-1D54660963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363517-E313-455F-8B5D-79410964A66E}"/>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6" name="Footer Placeholder 5">
            <a:extLst>
              <a:ext uri="{FF2B5EF4-FFF2-40B4-BE49-F238E27FC236}">
                <a16:creationId xmlns:a16="http://schemas.microsoft.com/office/drawing/2014/main" id="{262CEB3E-7FD3-437B-8B84-4CBC8AB83C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575424-F69E-436B-8506-27D2346DFC9C}"/>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4208662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0A273-610E-4E32-8B8A-E52ABA77FE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67AA1A-186E-439C-9AA2-F0AE095D09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F6384C-C5F4-41E6-BB14-90EBDF9FA8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08F50F-49EA-4E8F-8608-A81C6D2D62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A6D8C2-9EFE-4B40-8009-3562B94C1A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551CB-552F-4203-B2CE-E93307BE5157}"/>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8" name="Footer Placeholder 7">
            <a:extLst>
              <a:ext uri="{FF2B5EF4-FFF2-40B4-BE49-F238E27FC236}">
                <a16:creationId xmlns:a16="http://schemas.microsoft.com/office/drawing/2014/main" id="{5B259EAD-F69A-41DA-A5B4-F09581C303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3D2795-7649-472E-ACAC-21F7B92A6552}"/>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6889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68A0B-CD8C-41A2-87C4-5E84235B55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477AC3-3055-4984-9A8E-C7DE52188D4E}"/>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4" name="Footer Placeholder 3">
            <a:extLst>
              <a:ext uri="{FF2B5EF4-FFF2-40B4-BE49-F238E27FC236}">
                <a16:creationId xmlns:a16="http://schemas.microsoft.com/office/drawing/2014/main" id="{3B1D6781-3C95-4C3A-A642-6CBD598558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CCA2B6-0F8A-4464-901A-E9DB3BD2056E}"/>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737958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6A254C-BB94-4794-BEA3-5FAF3195D497}"/>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3" name="Footer Placeholder 2">
            <a:extLst>
              <a:ext uri="{FF2B5EF4-FFF2-40B4-BE49-F238E27FC236}">
                <a16:creationId xmlns:a16="http://schemas.microsoft.com/office/drawing/2014/main" id="{0F02BB9C-1134-4BC3-8260-BA2B6F56AE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0D7066-657E-48BA-9404-359D9CC51EA1}"/>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078036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FF829-3243-4B52-8281-E9DDA1F38B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154CC9-3699-44C0-89DC-687A8006B0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442CF5-67A5-4DBF-83FB-3ECFBB4887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510D33-C28F-41CB-9D79-0DF80EEBA07A}"/>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6" name="Footer Placeholder 5">
            <a:extLst>
              <a:ext uri="{FF2B5EF4-FFF2-40B4-BE49-F238E27FC236}">
                <a16:creationId xmlns:a16="http://schemas.microsoft.com/office/drawing/2014/main" id="{79AC33DC-C239-4AF8-9D1E-E779E15D02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66A338-41FE-4734-B552-5C90AA02B884}"/>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057788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83626-38EC-40FC-81BC-1065A1D106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82D3D4-8C98-4F89-A194-5314F44C4B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BBCA05-EAE4-4A75-9B5F-29F22B4FC9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650693-A768-4B8B-9F75-109A0C237031}"/>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6" name="Footer Placeholder 5">
            <a:extLst>
              <a:ext uri="{FF2B5EF4-FFF2-40B4-BE49-F238E27FC236}">
                <a16:creationId xmlns:a16="http://schemas.microsoft.com/office/drawing/2014/main" id="{72705722-A632-4957-BEFD-CA108BB95F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7034C4-659F-4689-A76E-263606490B10}"/>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271709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064A0-DAE7-497D-A81A-04DDA7D2DD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C56EF7-54F1-4ABB-8450-E287FA405D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0116C4-249A-4AED-8C24-8A13F2A93BAF}"/>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5" name="Footer Placeholder 4">
            <a:extLst>
              <a:ext uri="{FF2B5EF4-FFF2-40B4-BE49-F238E27FC236}">
                <a16:creationId xmlns:a16="http://schemas.microsoft.com/office/drawing/2014/main" id="{36B953A9-6C7F-4A0D-BC4B-77B717ABBF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6677AD-112F-4BFB-85B0-28EC54B6413B}"/>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812797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B193EE-D243-4226-9CE6-3A107A0763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5420C8-2A2C-4D59-BB85-A9122D7066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7D92ED-73E0-43F9-9659-5926218A1612}"/>
              </a:ext>
            </a:extLst>
          </p:cNvPr>
          <p:cNvSpPr>
            <a:spLocks noGrp="1"/>
          </p:cNvSpPr>
          <p:nvPr>
            <p:ph type="dt" sz="half" idx="10"/>
          </p:nvPr>
        </p:nvSpPr>
        <p:spPr/>
        <p:txBody>
          <a:bodyPr/>
          <a:lstStyle/>
          <a:p>
            <a:fld id="{01E01B02-CFB9-4BE7-AFFD-E66651E1C201}" type="datetimeFigureOut">
              <a:rPr lang="en-US" smtClean="0"/>
              <a:t>2/5/2020</a:t>
            </a:fld>
            <a:endParaRPr lang="en-US"/>
          </a:p>
        </p:txBody>
      </p:sp>
      <p:sp>
        <p:nvSpPr>
          <p:cNvPr id="5" name="Footer Placeholder 4">
            <a:extLst>
              <a:ext uri="{FF2B5EF4-FFF2-40B4-BE49-F238E27FC236}">
                <a16:creationId xmlns:a16="http://schemas.microsoft.com/office/drawing/2014/main" id="{E5D28322-7817-470B-8A6B-F1D434BA2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82E6F2-BB4F-4B52-B4EE-179AE8CDF7D2}"/>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2250448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AAFC31-B832-4BF1-B059-70054D1400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561D12-50BE-4FF9-957D-5A61FFDA85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20FBD4-EC49-4302-9342-57454FC6B2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E01B02-CFB9-4BE7-AFFD-E66651E1C201}" type="datetimeFigureOut">
              <a:rPr lang="en-US" smtClean="0"/>
              <a:t>2/5/2020</a:t>
            </a:fld>
            <a:endParaRPr lang="en-US"/>
          </a:p>
        </p:txBody>
      </p:sp>
      <p:sp>
        <p:nvSpPr>
          <p:cNvPr id="5" name="Footer Placeholder 4">
            <a:extLst>
              <a:ext uri="{FF2B5EF4-FFF2-40B4-BE49-F238E27FC236}">
                <a16:creationId xmlns:a16="http://schemas.microsoft.com/office/drawing/2014/main" id="{DC89B591-E304-4539-84E8-50F8F8580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6072A4-F25A-4550-BEDC-84064985EA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B8275-B259-402B-84A9-4510FAEE6AEF}" type="slidenum">
              <a:rPr lang="en-US" smtClean="0"/>
              <a:t>‹#›</a:t>
            </a:fld>
            <a:endParaRPr lang="en-US"/>
          </a:p>
        </p:txBody>
      </p:sp>
    </p:spTree>
    <p:extLst>
      <p:ext uri="{BB962C8B-B14F-4D97-AF65-F5344CB8AC3E}">
        <p14:creationId xmlns:p14="http://schemas.microsoft.com/office/powerpoint/2010/main" val="3571546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1458A-1DC2-4BD0-80E7-B5B1D2F0350F}"/>
              </a:ext>
            </a:extLst>
          </p:cNvPr>
          <p:cNvSpPr>
            <a:spLocks noGrp="1"/>
          </p:cNvSpPr>
          <p:nvPr>
            <p:ph type="ctrTitle"/>
          </p:nvPr>
        </p:nvSpPr>
        <p:spPr/>
        <p:txBody>
          <a:bodyPr>
            <a:normAutofit/>
          </a:bodyPr>
          <a:lstStyle/>
          <a:p>
            <a:r>
              <a:rPr lang="en-US" dirty="0"/>
              <a:t>Develop Python Pipeline:</a:t>
            </a:r>
            <a:br>
              <a:rPr lang="en-US" dirty="0"/>
            </a:br>
            <a:r>
              <a:rPr lang="en-US" dirty="0"/>
              <a:t>Data and Process Modeling</a:t>
            </a:r>
          </a:p>
        </p:txBody>
      </p:sp>
      <p:sp>
        <p:nvSpPr>
          <p:cNvPr id="3" name="Subtitle 2">
            <a:extLst>
              <a:ext uri="{FF2B5EF4-FFF2-40B4-BE49-F238E27FC236}">
                <a16:creationId xmlns:a16="http://schemas.microsoft.com/office/drawing/2014/main" id="{5930F043-6162-49F5-A5C0-1CA1BC2BE72D}"/>
              </a:ext>
            </a:extLst>
          </p:cNvPr>
          <p:cNvSpPr>
            <a:spLocks noGrp="1"/>
          </p:cNvSpPr>
          <p:nvPr>
            <p:ph type="subTitle" idx="1"/>
          </p:nvPr>
        </p:nvSpPr>
        <p:spPr>
          <a:xfrm>
            <a:off x="1524000" y="4235116"/>
            <a:ext cx="9144000" cy="1022684"/>
          </a:xfrm>
        </p:spPr>
        <p:txBody>
          <a:bodyPr/>
          <a:lstStyle/>
          <a:p>
            <a:r>
              <a:rPr lang="en-US" dirty="0"/>
              <a:t>Tiezheng Yuan</a:t>
            </a:r>
          </a:p>
          <a:p>
            <a:r>
              <a:rPr lang="en-US" dirty="0"/>
              <a:t>Feb 05, 2020</a:t>
            </a:r>
          </a:p>
        </p:txBody>
      </p:sp>
    </p:spTree>
    <p:extLst>
      <p:ext uri="{BB962C8B-B14F-4D97-AF65-F5344CB8AC3E}">
        <p14:creationId xmlns:p14="http://schemas.microsoft.com/office/powerpoint/2010/main" val="2805599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9BEF9-398D-40DC-8C97-248AEB2CE52A}"/>
              </a:ext>
            </a:extLst>
          </p:cNvPr>
          <p:cNvSpPr>
            <a:spLocks noGrp="1"/>
          </p:cNvSpPr>
          <p:nvPr>
            <p:ph type="title"/>
          </p:nvPr>
        </p:nvSpPr>
        <p:spPr/>
        <p:txBody>
          <a:bodyPr/>
          <a:lstStyle/>
          <a:p>
            <a:pPr algn="ctr"/>
            <a:r>
              <a:rPr lang="en-US" dirty="0"/>
              <a:t>Data and process modeling</a:t>
            </a:r>
          </a:p>
        </p:txBody>
      </p:sp>
      <p:sp>
        <p:nvSpPr>
          <p:cNvPr id="3" name="Content Placeholder 2">
            <a:extLst>
              <a:ext uri="{FF2B5EF4-FFF2-40B4-BE49-F238E27FC236}">
                <a16:creationId xmlns:a16="http://schemas.microsoft.com/office/drawing/2014/main" id="{D042904E-5B2A-42E8-8042-C4F9429711E6}"/>
              </a:ext>
            </a:extLst>
          </p:cNvPr>
          <p:cNvSpPr>
            <a:spLocks noGrp="1"/>
          </p:cNvSpPr>
          <p:nvPr>
            <p:ph idx="1"/>
          </p:nvPr>
        </p:nvSpPr>
        <p:spPr/>
        <p:txBody>
          <a:bodyPr>
            <a:normAutofit/>
          </a:bodyPr>
          <a:lstStyle/>
          <a:p>
            <a:r>
              <a:rPr lang="en-US" sz="3200" dirty="0"/>
              <a:t>In this context, data and process modeling shows how an pipeline </a:t>
            </a:r>
            <a:r>
              <a:rPr lang="en-US" sz="3200" b="1" dirty="0"/>
              <a:t>convert data into useful information</a:t>
            </a:r>
            <a:r>
              <a:rPr lang="en-US" sz="3200" dirty="0"/>
              <a:t>.</a:t>
            </a:r>
          </a:p>
          <a:p>
            <a:r>
              <a:rPr lang="en-US" sz="3200" dirty="0"/>
              <a:t>It is </a:t>
            </a:r>
            <a:r>
              <a:rPr lang="en-US" sz="3200" b="1" dirty="0"/>
              <a:t>logistic modeling</a:t>
            </a:r>
            <a:r>
              <a:rPr lang="en-US" sz="3200" dirty="0"/>
              <a:t>, showing what the pipeline should do, regardless of how the pipeline is implemented physically.</a:t>
            </a:r>
          </a:p>
          <a:p>
            <a:r>
              <a:rPr lang="en-US" sz="3200" dirty="0"/>
              <a:t>That uses some visual tools:</a:t>
            </a:r>
            <a:br>
              <a:rPr lang="en-US" sz="3200" dirty="0"/>
            </a:br>
            <a:r>
              <a:rPr lang="en-US" sz="3200" dirty="0"/>
              <a:t>Data Flow Diagram (DFD)</a:t>
            </a:r>
            <a:br>
              <a:rPr lang="en-US" sz="3200" dirty="0"/>
            </a:br>
            <a:r>
              <a:rPr lang="en-US" sz="3200" dirty="0"/>
              <a:t>Process Flow Chart</a:t>
            </a:r>
            <a:br>
              <a:rPr lang="en-US" sz="3200" dirty="0"/>
            </a:br>
            <a:endParaRPr lang="en-US" sz="3200" dirty="0"/>
          </a:p>
        </p:txBody>
      </p:sp>
    </p:spTree>
    <p:extLst>
      <p:ext uri="{BB962C8B-B14F-4D97-AF65-F5344CB8AC3E}">
        <p14:creationId xmlns:p14="http://schemas.microsoft.com/office/powerpoint/2010/main" val="215641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29C27-9AA3-4F5B-8104-2BD38C625C2C}"/>
              </a:ext>
            </a:extLst>
          </p:cNvPr>
          <p:cNvSpPr>
            <a:spLocks noGrp="1"/>
          </p:cNvSpPr>
          <p:nvPr>
            <p:ph type="title"/>
          </p:nvPr>
        </p:nvSpPr>
        <p:spPr/>
        <p:txBody>
          <a:bodyPr/>
          <a:lstStyle/>
          <a:p>
            <a:pPr algn="ctr"/>
            <a:r>
              <a:rPr lang="en-US" dirty="0"/>
              <a:t>Data Flow </a:t>
            </a:r>
            <a:r>
              <a:rPr lang="en-US" dirty="0" err="1"/>
              <a:t>Diagramm</a:t>
            </a:r>
            <a:r>
              <a:rPr lang="en-US" dirty="0"/>
              <a:t> (DFD)</a:t>
            </a:r>
          </a:p>
        </p:txBody>
      </p:sp>
      <p:sp>
        <p:nvSpPr>
          <p:cNvPr id="3" name="Content Placeholder 2">
            <a:extLst>
              <a:ext uri="{FF2B5EF4-FFF2-40B4-BE49-F238E27FC236}">
                <a16:creationId xmlns:a16="http://schemas.microsoft.com/office/drawing/2014/main" id="{471BB592-2C97-4D91-8F2B-0CF051512D6B}"/>
              </a:ext>
            </a:extLst>
          </p:cNvPr>
          <p:cNvSpPr>
            <a:spLocks noGrp="1"/>
          </p:cNvSpPr>
          <p:nvPr>
            <p:ph idx="1"/>
          </p:nvPr>
        </p:nvSpPr>
        <p:spPr>
          <a:xfrm>
            <a:off x="838200" y="1825625"/>
            <a:ext cx="10515600" cy="4018584"/>
          </a:xfrm>
        </p:spPr>
        <p:txBody>
          <a:bodyPr>
            <a:normAutofit/>
          </a:bodyPr>
          <a:lstStyle/>
          <a:p>
            <a:r>
              <a:rPr lang="en-US" sz="3200" dirty="0"/>
              <a:t>DFD shows how data move in the pipeline, regardless of the pipeline’s logic or processing steps.</a:t>
            </a:r>
          </a:p>
          <a:p>
            <a:r>
              <a:rPr lang="en-US" sz="3200" dirty="0"/>
              <a:t>DFD defines four basic components:</a:t>
            </a:r>
            <a:br>
              <a:rPr lang="en-US" sz="3200" dirty="0"/>
            </a:br>
            <a:r>
              <a:rPr lang="en-US" sz="3200" dirty="0"/>
              <a:t>	processes</a:t>
            </a:r>
            <a:br>
              <a:rPr lang="en-US" sz="3200" dirty="0"/>
            </a:br>
            <a:r>
              <a:rPr lang="en-US" sz="3200" dirty="0"/>
              <a:t>	data flows</a:t>
            </a:r>
            <a:br>
              <a:rPr lang="en-US" sz="3200" dirty="0"/>
            </a:br>
            <a:r>
              <a:rPr lang="en-US" sz="3200" dirty="0"/>
              <a:t>	data storage</a:t>
            </a:r>
            <a:br>
              <a:rPr lang="en-US" sz="3200" dirty="0"/>
            </a:br>
            <a:r>
              <a:rPr lang="en-US" sz="3200" dirty="0"/>
              <a:t>	entities</a:t>
            </a:r>
          </a:p>
        </p:txBody>
      </p:sp>
    </p:spTree>
    <p:extLst>
      <p:ext uri="{BB962C8B-B14F-4D97-AF65-F5344CB8AC3E}">
        <p14:creationId xmlns:p14="http://schemas.microsoft.com/office/powerpoint/2010/main" val="3835792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B1359-3048-4D0B-B3CE-C9CEFD3A3731}"/>
              </a:ext>
            </a:extLst>
          </p:cNvPr>
          <p:cNvSpPr>
            <a:spLocks noGrp="1"/>
          </p:cNvSpPr>
          <p:nvPr>
            <p:ph type="title"/>
          </p:nvPr>
        </p:nvSpPr>
        <p:spPr/>
        <p:txBody>
          <a:bodyPr/>
          <a:lstStyle/>
          <a:p>
            <a:r>
              <a:rPr lang="en-US" dirty="0"/>
              <a:t>Context diagram DFD for BDO</a:t>
            </a:r>
          </a:p>
        </p:txBody>
      </p:sp>
      <p:pic>
        <p:nvPicPr>
          <p:cNvPr id="7" name="Picture 6">
            <a:extLst>
              <a:ext uri="{FF2B5EF4-FFF2-40B4-BE49-F238E27FC236}">
                <a16:creationId xmlns:a16="http://schemas.microsoft.com/office/drawing/2014/main" id="{F2EC30BF-BF5A-4AD3-945E-A1CD678161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854" y="2122005"/>
            <a:ext cx="11790292" cy="4199282"/>
          </a:xfrm>
          <a:prstGeom prst="rect">
            <a:avLst/>
          </a:prstGeom>
        </p:spPr>
      </p:pic>
    </p:spTree>
    <p:extLst>
      <p:ext uri="{BB962C8B-B14F-4D97-AF65-F5344CB8AC3E}">
        <p14:creationId xmlns:p14="http://schemas.microsoft.com/office/powerpoint/2010/main" val="937867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CAC16-DAD7-4F3F-80FB-16F1B657D21B}"/>
              </a:ext>
            </a:extLst>
          </p:cNvPr>
          <p:cNvSpPr>
            <a:spLocks noGrp="1"/>
          </p:cNvSpPr>
          <p:nvPr>
            <p:ph type="title"/>
          </p:nvPr>
        </p:nvSpPr>
        <p:spPr/>
        <p:txBody>
          <a:bodyPr/>
          <a:lstStyle/>
          <a:p>
            <a:pPr algn="ctr"/>
            <a:r>
              <a:rPr lang="en-US" dirty="0"/>
              <a:t>Why DFD is useful?</a:t>
            </a:r>
          </a:p>
        </p:txBody>
      </p:sp>
      <p:sp>
        <p:nvSpPr>
          <p:cNvPr id="3" name="Content Placeholder 2">
            <a:extLst>
              <a:ext uri="{FF2B5EF4-FFF2-40B4-BE49-F238E27FC236}">
                <a16:creationId xmlns:a16="http://schemas.microsoft.com/office/drawing/2014/main" id="{C156F6F0-898F-4E46-B396-E7A2B0997607}"/>
              </a:ext>
            </a:extLst>
          </p:cNvPr>
          <p:cNvSpPr>
            <a:spLocks noGrp="1"/>
          </p:cNvSpPr>
          <p:nvPr>
            <p:ph idx="1"/>
          </p:nvPr>
        </p:nvSpPr>
        <p:spPr/>
        <p:txBody>
          <a:bodyPr>
            <a:normAutofit/>
          </a:bodyPr>
          <a:lstStyle/>
          <a:p>
            <a:r>
              <a:rPr lang="en-US" sz="3200" dirty="0"/>
              <a:t>DFD helps us to identify all entities and processes involved in the pipelines. </a:t>
            </a:r>
          </a:p>
          <a:p>
            <a:r>
              <a:rPr lang="en-US" sz="3200" dirty="0"/>
              <a:t>DFD is summarized based on the achievement of requirement analysis.</a:t>
            </a:r>
          </a:p>
          <a:p>
            <a:r>
              <a:rPr lang="en-US" sz="3200" dirty="0"/>
              <a:t>DFD helps the next stage: The entities could be converted to classes in OOP, and processes could be defined as methods or functions.</a:t>
            </a:r>
          </a:p>
        </p:txBody>
      </p:sp>
    </p:spTree>
    <p:extLst>
      <p:ext uri="{BB962C8B-B14F-4D97-AF65-F5344CB8AC3E}">
        <p14:creationId xmlns:p14="http://schemas.microsoft.com/office/powerpoint/2010/main" val="3434264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CAC16-DAD7-4F3F-80FB-16F1B657D21B}"/>
              </a:ext>
            </a:extLst>
          </p:cNvPr>
          <p:cNvSpPr>
            <a:spLocks noGrp="1"/>
          </p:cNvSpPr>
          <p:nvPr>
            <p:ph type="title"/>
          </p:nvPr>
        </p:nvSpPr>
        <p:spPr/>
        <p:txBody>
          <a:bodyPr/>
          <a:lstStyle/>
          <a:p>
            <a:pPr algn="ctr"/>
            <a:r>
              <a:rPr lang="en-US" dirty="0"/>
              <a:t>Describe processes</a:t>
            </a:r>
          </a:p>
        </p:txBody>
      </p:sp>
      <p:sp>
        <p:nvSpPr>
          <p:cNvPr id="3" name="Content Placeholder 2">
            <a:extLst>
              <a:ext uri="{FF2B5EF4-FFF2-40B4-BE49-F238E27FC236}">
                <a16:creationId xmlns:a16="http://schemas.microsoft.com/office/drawing/2014/main" id="{C156F6F0-898F-4E46-B396-E7A2B0997607}"/>
              </a:ext>
            </a:extLst>
          </p:cNvPr>
          <p:cNvSpPr>
            <a:spLocks noGrp="1"/>
          </p:cNvSpPr>
          <p:nvPr>
            <p:ph idx="1"/>
          </p:nvPr>
        </p:nvSpPr>
        <p:spPr>
          <a:xfrm>
            <a:off x="838200" y="1825625"/>
            <a:ext cx="10515600" cy="1325563"/>
          </a:xfrm>
        </p:spPr>
        <p:txBody>
          <a:bodyPr>
            <a:normAutofit/>
          </a:bodyPr>
          <a:lstStyle/>
          <a:p>
            <a:r>
              <a:rPr lang="en-US" sz="3200" dirty="0"/>
              <a:t>Process description shows logistic steps of the pipeline operations, which correspond with operations in real world.</a:t>
            </a:r>
          </a:p>
        </p:txBody>
      </p:sp>
      <p:pic>
        <p:nvPicPr>
          <p:cNvPr id="5" name="Picture 4">
            <a:extLst>
              <a:ext uri="{FF2B5EF4-FFF2-40B4-BE49-F238E27FC236}">
                <a16:creationId xmlns:a16="http://schemas.microsoft.com/office/drawing/2014/main" id="{3DC649D7-D962-4FF5-B759-6F63BF2C85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44" y="4227399"/>
            <a:ext cx="12119556" cy="1062841"/>
          </a:xfrm>
          <a:prstGeom prst="rect">
            <a:avLst/>
          </a:prstGeom>
        </p:spPr>
      </p:pic>
    </p:spTree>
    <p:extLst>
      <p:ext uri="{BB962C8B-B14F-4D97-AF65-F5344CB8AC3E}">
        <p14:creationId xmlns:p14="http://schemas.microsoft.com/office/powerpoint/2010/main" val="3955932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CAC16-DAD7-4F3F-80FB-16F1B657D21B}"/>
              </a:ext>
            </a:extLst>
          </p:cNvPr>
          <p:cNvSpPr>
            <a:spLocks noGrp="1"/>
          </p:cNvSpPr>
          <p:nvPr>
            <p:ph type="title"/>
          </p:nvPr>
        </p:nvSpPr>
        <p:spPr/>
        <p:txBody>
          <a:bodyPr/>
          <a:lstStyle/>
          <a:p>
            <a:pPr algn="ctr"/>
            <a:r>
              <a:rPr lang="en-US" dirty="0"/>
              <a:t>Why process description (PD) is useful?</a:t>
            </a:r>
          </a:p>
        </p:txBody>
      </p:sp>
      <p:sp>
        <p:nvSpPr>
          <p:cNvPr id="3" name="Content Placeholder 2">
            <a:extLst>
              <a:ext uri="{FF2B5EF4-FFF2-40B4-BE49-F238E27FC236}">
                <a16:creationId xmlns:a16="http://schemas.microsoft.com/office/drawing/2014/main" id="{C156F6F0-898F-4E46-B396-E7A2B0997607}"/>
              </a:ext>
            </a:extLst>
          </p:cNvPr>
          <p:cNvSpPr>
            <a:spLocks noGrp="1"/>
          </p:cNvSpPr>
          <p:nvPr>
            <p:ph idx="1"/>
          </p:nvPr>
        </p:nvSpPr>
        <p:spPr/>
        <p:txBody>
          <a:bodyPr>
            <a:normAutofit/>
          </a:bodyPr>
          <a:lstStyle/>
          <a:p>
            <a:r>
              <a:rPr lang="en-US" sz="3200" dirty="0"/>
              <a:t>PD helps us to understand business logics in real world, which should be translated into pipeline design.</a:t>
            </a:r>
          </a:p>
          <a:p>
            <a:r>
              <a:rPr lang="en-US" sz="3200" dirty="0"/>
              <a:t>PD helps us to identify critical path and milestones, which are useful for project management </a:t>
            </a:r>
            <a:r>
              <a:rPr lang="en-US" sz="3200"/>
              <a:t>in pipeline life </a:t>
            </a:r>
            <a:r>
              <a:rPr lang="en-US" sz="3200" dirty="0"/>
              <a:t>cycle.</a:t>
            </a:r>
          </a:p>
          <a:p>
            <a:r>
              <a:rPr lang="en-US" sz="3200" dirty="0"/>
              <a:t>PD and DFD combined depict a blue picture of object modeling.</a:t>
            </a:r>
          </a:p>
          <a:p>
            <a:r>
              <a:rPr lang="en-US" sz="3200" dirty="0"/>
              <a:t>PD is readable for those stakeholders without too much technical background.</a:t>
            </a:r>
          </a:p>
          <a:p>
            <a:endParaRPr lang="en-US" sz="3200" dirty="0"/>
          </a:p>
        </p:txBody>
      </p:sp>
    </p:spTree>
    <p:extLst>
      <p:ext uri="{BB962C8B-B14F-4D97-AF65-F5344CB8AC3E}">
        <p14:creationId xmlns:p14="http://schemas.microsoft.com/office/powerpoint/2010/main" val="17676280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1939</TotalTime>
  <Words>655</Words>
  <Application>Microsoft Office PowerPoint</Application>
  <PresentationFormat>Widescreen</PresentationFormat>
  <Paragraphs>40</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Develop Python Pipeline: Data and Process Modeling</vt:lpstr>
      <vt:lpstr>Data and process modeling</vt:lpstr>
      <vt:lpstr>Data Flow Diagramm (DFD)</vt:lpstr>
      <vt:lpstr>Context diagram DFD for BDO</vt:lpstr>
      <vt:lpstr>Why DFD is useful?</vt:lpstr>
      <vt:lpstr>Describe processes</vt:lpstr>
      <vt:lpstr>Why process description (PD) is useful?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 Python pipeline: Objects and Classes</dc:title>
  <dc:creator>Tiezheng Yuan</dc:creator>
  <cp:lastModifiedBy>Tiezheng Yuan</cp:lastModifiedBy>
  <cp:revision>62</cp:revision>
  <dcterms:created xsi:type="dcterms:W3CDTF">2020-01-31T22:01:04Z</dcterms:created>
  <dcterms:modified xsi:type="dcterms:W3CDTF">2020-02-05T17:00:11Z</dcterms:modified>
</cp:coreProperties>
</file>