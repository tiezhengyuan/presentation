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59" r:id="rId4"/>
    <p:sldId id="271" r:id="rId5"/>
    <p:sldId id="272" r:id="rId6"/>
    <p:sldId id="273" r:id="rId7"/>
    <p:sldId id="27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73878" autoAdjust="0"/>
  </p:normalViewPr>
  <p:slideViewPr>
    <p:cSldViewPr snapToGrid="0">
      <p:cViewPr varScale="1">
        <p:scale>
          <a:sx n="39" d="100"/>
          <a:sy n="39" d="100"/>
        </p:scale>
        <p:origin x="123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35E18-C188-4B80-9445-659122C614DD}" type="datetimeFigureOut">
              <a:rPr lang="en-US" smtClean="0"/>
              <a:t>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26EDF5-73A9-4F30-B1A6-8B6AF30FC97A}" type="slidenum">
              <a:rPr lang="en-US" smtClean="0"/>
              <a:t>‹#›</a:t>
            </a:fld>
            <a:endParaRPr lang="en-US"/>
          </a:p>
        </p:txBody>
      </p:sp>
    </p:spTree>
    <p:extLst>
      <p:ext uri="{BB962C8B-B14F-4D97-AF65-F5344CB8AC3E}">
        <p14:creationId xmlns:p14="http://schemas.microsoft.com/office/powerpoint/2010/main" val="1579761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Today I am going to introduce what is inheritance in Python.</a:t>
            </a:r>
          </a:p>
        </p:txBody>
      </p:sp>
      <p:sp>
        <p:nvSpPr>
          <p:cNvPr id="4" name="Slide Number Placeholder 3"/>
          <p:cNvSpPr>
            <a:spLocks noGrp="1"/>
          </p:cNvSpPr>
          <p:nvPr>
            <p:ph type="sldNum" sz="quarter" idx="5"/>
          </p:nvPr>
        </p:nvSpPr>
        <p:spPr/>
        <p:txBody>
          <a:bodyPr/>
          <a:lstStyle/>
          <a:p>
            <a:fld id="{E526EDF5-73A9-4F30-B1A6-8B6AF30FC97A}" type="slidenum">
              <a:rPr lang="en-US" smtClean="0"/>
              <a:t>1</a:t>
            </a:fld>
            <a:endParaRPr lang="en-US"/>
          </a:p>
        </p:txBody>
      </p:sp>
    </p:spTree>
    <p:extLst>
      <p:ext uri="{BB962C8B-B14F-4D97-AF65-F5344CB8AC3E}">
        <p14:creationId xmlns:p14="http://schemas.microsoft.com/office/powerpoint/2010/main" val="59154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constructor and destructor</a:t>
            </a:r>
          </a:p>
        </p:txBody>
      </p:sp>
      <p:sp>
        <p:nvSpPr>
          <p:cNvPr id="4" name="Slide Number Placeholder 3"/>
          <p:cNvSpPr>
            <a:spLocks noGrp="1"/>
          </p:cNvSpPr>
          <p:nvPr>
            <p:ph type="sldNum" sz="quarter" idx="5"/>
          </p:nvPr>
        </p:nvSpPr>
        <p:spPr/>
        <p:txBody>
          <a:bodyPr/>
          <a:lstStyle/>
          <a:p>
            <a:fld id="{E526EDF5-73A9-4F30-B1A6-8B6AF30FC97A}" type="slidenum">
              <a:rPr lang="en-US" smtClean="0"/>
              <a:t>2</a:t>
            </a:fld>
            <a:endParaRPr lang="en-US"/>
          </a:p>
        </p:txBody>
      </p:sp>
    </p:spTree>
    <p:extLst>
      <p:ext uri="{BB962C8B-B14F-4D97-AF65-F5344CB8AC3E}">
        <p14:creationId xmlns:p14="http://schemas.microsoft.com/office/powerpoint/2010/main" val="376072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function </a:t>
            </a:r>
            <a:r>
              <a:rPr lang="en-US" dirty="0" err="1"/>
              <a:t>printTest</a:t>
            </a:r>
            <a:r>
              <a:rPr lang="en-US" dirty="0"/>
              <a:t> is a decorator of the function of </a:t>
            </a:r>
            <a:r>
              <a:rPr lang="en-US" dirty="0" err="1"/>
              <a:t>printDone</a:t>
            </a:r>
            <a:r>
              <a:rPr lang="en-US" dirty="0"/>
              <a:t>. </a:t>
            </a:r>
            <a:r>
              <a:rPr lang="en-US" dirty="0" err="1"/>
              <a:t>printTest</a:t>
            </a:r>
            <a:r>
              <a:rPr lang="en-US" dirty="0"/>
              <a:t> extends the function of the function f </a:t>
            </a:r>
            <a:r>
              <a:rPr lang="en-US" dirty="0" err="1"/>
              <a:t>printDone</a:t>
            </a:r>
            <a:r>
              <a:rPr lang="en-US" dirty="0"/>
              <a:t> by pass the function </a:t>
            </a:r>
            <a:r>
              <a:rPr lang="en-US" dirty="0" err="1"/>
              <a:t>printDone</a:t>
            </a:r>
            <a:r>
              <a:rPr lang="en-US" dirty="0"/>
              <a:t> as an argument.</a:t>
            </a:r>
          </a:p>
          <a:p>
            <a:r>
              <a:rPr lang="en-US" dirty="0"/>
              <a:t>Let imagine the scenario:  There are multiple functions, which share some codes. Therefore, we could package the part of code as a parent function. Pass the parent function as an argument to the child function once the child function is used.</a:t>
            </a:r>
          </a:p>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3</a:t>
            </a:fld>
            <a:endParaRPr lang="en-US"/>
          </a:p>
        </p:txBody>
      </p:sp>
    </p:spTree>
    <p:extLst>
      <p:ext uri="{BB962C8B-B14F-4D97-AF65-F5344CB8AC3E}">
        <p14:creationId xmlns:p14="http://schemas.microsoft.com/office/powerpoint/2010/main" val="745484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function </a:t>
            </a:r>
            <a:r>
              <a:rPr lang="en-US" dirty="0" err="1"/>
              <a:t>calcRate</a:t>
            </a:r>
            <a:r>
              <a:rPr lang="en-US" dirty="0"/>
              <a:t> is a decorator of the two functions </a:t>
            </a:r>
            <a:r>
              <a:rPr lang="en-US" dirty="0" err="1"/>
              <a:t>GenericRate</a:t>
            </a:r>
            <a:r>
              <a:rPr lang="en-US" dirty="0"/>
              <a:t> and </a:t>
            </a:r>
            <a:r>
              <a:rPr lang="en-US" dirty="0" err="1"/>
              <a:t>DiscountRate</a:t>
            </a:r>
            <a:r>
              <a:rPr lang="en-US" dirty="0"/>
              <a:t>, which are the returns of the function </a:t>
            </a:r>
            <a:r>
              <a:rPr lang="en-US" dirty="0" err="1"/>
              <a:t>calcRate</a:t>
            </a:r>
            <a:r>
              <a:rPr lang="en-US" dirty="0"/>
              <a:t>().</a:t>
            </a:r>
          </a:p>
          <a:p>
            <a:r>
              <a:rPr lang="en-US" dirty="0"/>
              <a:t>Let imagine the scenario: Various patterns for calculating rates are fixed and packaged. We don’t want script executors to change any of the functions. But allow them to determine which one could be used based on real circumstances, especially in case that the conditions vary.</a:t>
            </a:r>
          </a:p>
        </p:txBody>
      </p:sp>
      <p:sp>
        <p:nvSpPr>
          <p:cNvPr id="4" name="Slide Number Placeholder 3"/>
          <p:cNvSpPr>
            <a:spLocks noGrp="1"/>
          </p:cNvSpPr>
          <p:nvPr>
            <p:ph type="sldNum" sz="quarter" idx="5"/>
          </p:nvPr>
        </p:nvSpPr>
        <p:spPr/>
        <p:txBody>
          <a:bodyPr/>
          <a:lstStyle/>
          <a:p>
            <a:fld id="{E526EDF5-73A9-4F30-B1A6-8B6AF30FC97A}" type="slidenum">
              <a:rPr lang="en-US" smtClean="0"/>
              <a:t>4</a:t>
            </a:fld>
            <a:endParaRPr lang="en-US"/>
          </a:p>
        </p:txBody>
      </p:sp>
    </p:spTree>
    <p:extLst>
      <p:ext uri="{BB962C8B-B14F-4D97-AF65-F5344CB8AC3E}">
        <p14:creationId xmlns:p14="http://schemas.microsoft.com/office/powerpoint/2010/main" val="4079377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function </a:t>
            </a:r>
            <a:r>
              <a:rPr lang="en-US" dirty="0" err="1"/>
              <a:t>calcRate</a:t>
            </a:r>
            <a:r>
              <a:rPr lang="en-US" dirty="0"/>
              <a:t> () include a function </a:t>
            </a:r>
            <a:r>
              <a:rPr lang="en-US" dirty="0" err="1"/>
              <a:t>convertCounts</a:t>
            </a:r>
            <a:r>
              <a:rPr lang="en-US" dirty="0"/>
              <a:t>. However, embedding functions is not suggested unless it is worthy to do that.</a:t>
            </a:r>
          </a:p>
        </p:txBody>
      </p:sp>
      <p:sp>
        <p:nvSpPr>
          <p:cNvPr id="4" name="Slide Number Placeholder 3"/>
          <p:cNvSpPr>
            <a:spLocks noGrp="1"/>
          </p:cNvSpPr>
          <p:nvPr>
            <p:ph type="sldNum" sz="quarter" idx="5"/>
          </p:nvPr>
        </p:nvSpPr>
        <p:spPr/>
        <p:txBody>
          <a:bodyPr/>
          <a:lstStyle/>
          <a:p>
            <a:fld id="{E526EDF5-73A9-4F30-B1A6-8B6AF30FC97A}" type="slidenum">
              <a:rPr lang="en-US" smtClean="0"/>
              <a:t>5</a:t>
            </a:fld>
            <a:endParaRPr lang="en-US"/>
          </a:p>
        </p:txBody>
      </p:sp>
    </p:spTree>
    <p:extLst>
      <p:ext uri="{BB962C8B-B14F-4D97-AF65-F5344CB8AC3E}">
        <p14:creationId xmlns:p14="http://schemas.microsoft.com/office/powerpoint/2010/main" val="1968663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points should be noted.</a:t>
            </a:r>
          </a:p>
        </p:txBody>
      </p:sp>
      <p:sp>
        <p:nvSpPr>
          <p:cNvPr id="4" name="Slide Number Placeholder 3"/>
          <p:cNvSpPr>
            <a:spLocks noGrp="1"/>
          </p:cNvSpPr>
          <p:nvPr>
            <p:ph type="sldNum" sz="quarter" idx="5"/>
          </p:nvPr>
        </p:nvSpPr>
        <p:spPr/>
        <p:txBody>
          <a:bodyPr/>
          <a:lstStyle/>
          <a:p>
            <a:fld id="{E526EDF5-73A9-4F30-B1A6-8B6AF30FC97A}" type="slidenum">
              <a:rPr lang="en-US" smtClean="0"/>
              <a:t>7</a:t>
            </a:fld>
            <a:endParaRPr lang="en-US"/>
          </a:p>
        </p:txBody>
      </p:sp>
    </p:spTree>
    <p:extLst>
      <p:ext uri="{BB962C8B-B14F-4D97-AF65-F5344CB8AC3E}">
        <p14:creationId xmlns:p14="http://schemas.microsoft.com/office/powerpoint/2010/main" val="607013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CFBA-7278-4EB3-9731-0EC2CA6826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4736D1-9549-46F6-82E7-ADBB83F78A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52AB9B-6AC1-4A4E-A922-525FB5EA0CD8}"/>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5" name="Footer Placeholder 4">
            <a:extLst>
              <a:ext uri="{FF2B5EF4-FFF2-40B4-BE49-F238E27FC236}">
                <a16:creationId xmlns:a16="http://schemas.microsoft.com/office/drawing/2014/main" id="{18035F38-1F90-4E8A-A282-D9ED88CD8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310FD0-81EB-48A4-9258-8398DE9F951D}"/>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92680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91A9-88F4-4E90-8C13-8F233660FC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6DEEEA-3E05-42DF-9116-AE885F6EEE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35EB9-23F6-4C86-98BE-9E0C1425437B}"/>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5" name="Footer Placeholder 4">
            <a:extLst>
              <a:ext uri="{FF2B5EF4-FFF2-40B4-BE49-F238E27FC236}">
                <a16:creationId xmlns:a16="http://schemas.microsoft.com/office/drawing/2014/main" id="{C4BFB126-880B-4535-91D3-24DE5315DE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282CE4-5F0D-492C-A7C4-573DFAFCCE6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97970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834F-1BE7-44DD-8ED6-62700B61F1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890E5A-F37E-43F8-9F2B-F1D5FFC2BC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72CB44-75A4-44D8-8DE6-2D637C175B7E}"/>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5" name="Footer Placeholder 4">
            <a:extLst>
              <a:ext uri="{FF2B5EF4-FFF2-40B4-BE49-F238E27FC236}">
                <a16:creationId xmlns:a16="http://schemas.microsoft.com/office/drawing/2014/main" id="{D6A6318C-9B86-43AE-B62C-6798A7B94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5E21BB-7B39-442C-9A2F-A71606FE783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1907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CDE0-49EB-42CE-982C-3023921EC6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49870B-AB41-452D-AFE5-F9403D30FE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29CBAD-E0D3-4ABC-8395-1D54660963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363517-E313-455F-8B5D-79410964A66E}"/>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6" name="Footer Placeholder 5">
            <a:extLst>
              <a:ext uri="{FF2B5EF4-FFF2-40B4-BE49-F238E27FC236}">
                <a16:creationId xmlns:a16="http://schemas.microsoft.com/office/drawing/2014/main" id="{262CEB3E-7FD3-437B-8B84-4CBC8AB83C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575424-F69E-436B-8506-27D2346DFC9C}"/>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4208662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0A273-610E-4E32-8B8A-E52ABA77FE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67AA1A-186E-439C-9AA2-F0AE095D09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F6384C-C5F4-41E6-BB14-90EBDF9FA8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08F50F-49EA-4E8F-8608-A81C6D2D62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A6D8C2-9EFE-4B40-8009-3562B94C1A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551CB-552F-4203-B2CE-E93307BE5157}"/>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8" name="Footer Placeholder 7">
            <a:extLst>
              <a:ext uri="{FF2B5EF4-FFF2-40B4-BE49-F238E27FC236}">
                <a16:creationId xmlns:a16="http://schemas.microsoft.com/office/drawing/2014/main" id="{5B259EAD-F69A-41DA-A5B4-F09581C303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3D2795-7649-472E-ACAC-21F7B92A655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6889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8A0B-CD8C-41A2-87C4-5E84235B55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477AC3-3055-4984-9A8E-C7DE52188D4E}"/>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4" name="Footer Placeholder 3">
            <a:extLst>
              <a:ext uri="{FF2B5EF4-FFF2-40B4-BE49-F238E27FC236}">
                <a16:creationId xmlns:a16="http://schemas.microsoft.com/office/drawing/2014/main" id="{3B1D6781-3C95-4C3A-A642-6CBD59855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CCA2B6-0F8A-4464-901A-E9DB3BD2056E}"/>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37958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A254C-BB94-4794-BEA3-5FAF3195D497}"/>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3" name="Footer Placeholder 2">
            <a:extLst>
              <a:ext uri="{FF2B5EF4-FFF2-40B4-BE49-F238E27FC236}">
                <a16:creationId xmlns:a16="http://schemas.microsoft.com/office/drawing/2014/main" id="{0F02BB9C-1134-4BC3-8260-BA2B6F56AE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0D7066-657E-48BA-9404-359D9CC51EA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78036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FF829-3243-4B52-8281-E9DDA1F38B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154CC9-3699-44C0-89DC-687A8006B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442CF5-67A5-4DBF-83FB-3ECFBB488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10D33-C28F-41CB-9D79-0DF80EEBA07A}"/>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6" name="Footer Placeholder 5">
            <a:extLst>
              <a:ext uri="{FF2B5EF4-FFF2-40B4-BE49-F238E27FC236}">
                <a16:creationId xmlns:a16="http://schemas.microsoft.com/office/drawing/2014/main" id="{79AC33DC-C239-4AF8-9D1E-E779E15D02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66A338-41FE-4734-B552-5C90AA02B88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057788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3626-38EC-40FC-81BC-1065A1D10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82D3D4-8C98-4F89-A194-5314F44C4B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BBCA05-EAE4-4A75-9B5F-29F22B4FC9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650693-A768-4B8B-9F75-109A0C237031}"/>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6" name="Footer Placeholder 5">
            <a:extLst>
              <a:ext uri="{FF2B5EF4-FFF2-40B4-BE49-F238E27FC236}">
                <a16:creationId xmlns:a16="http://schemas.microsoft.com/office/drawing/2014/main" id="{72705722-A632-4957-BEFD-CA108BB95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7034C4-659F-4689-A76E-263606490B10}"/>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71709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064A0-DAE7-497D-A81A-04DDA7D2DD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C56EF7-54F1-4ABB-8450-E287FA405D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0116C4-249A-4AED-8C24-8A13F2A93BAF}"/>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5" name="Footer Placeholder 4">
            <a:extLst>
              <a:ext uri="{FF2B5EF4-FFF2-40B4-BE49-F238E27FC236}">
                <a16:creationId xmlns:a16="http://schemas.microsoft.com/office/drawing/2014/main" id="{36B953A9-6C7F-4A0D-BC4B-77B717ABB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6677AD-112F-4BFB-85B0-28EC54B6413B}"/>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81279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193EE-D243-4226-9CE6-3A107A0763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5420C8-2A2C-4D59-BB85-A9122D7066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D92ED-73E0-43F9-9659-5926218A1612}"/>
              </a:ext>
            </a:extLst>
          </p:cNvPr>
          <p:cNvSpPr>
            <a:spLocks noGrp="1"/>
          </p:cNvSpPr>
          <p:nvPr>
            <p:ph type="dt" sz="half" idx="10"/>
          </p:nvPr>
        </p:nvSpPr>
        <p:spPr/>
        <p:txBody>
          <a:bodyPr/>
          <a:lstStyle/>
          <a:p>
            <a:fld id="{01E01B02-CFB9-4BE7-AFFD-E66651E1C201}" type="datetimeFigureOut">
              <a:rPr lang="en-US" smtClean="0"/>
              <a:t>2/4/2020</a:t>
            </a:fld>
            <a:endParaRPr lang="en-US"/>
          </a:p>
        </p:txBody>
      </p:sp>
      <p:sp>
        <p:nvSpPr>
          <p:cNvPr id="5" name="Footer Placeholder 4">
            <a:extLst>
              <a:ext uri="{FF2B5EF4-FFF2-40B4-BE49-F238E27FC236}">
                <a16:creationId xmlns:a16="http://schemas.microsoft.com/office/drawing/2014/main" id="{E5D28322-7817-470B-8A6B-F1D434BA2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82E6F2-BB4F-4B52-B4EE-179AE8CDF7D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25044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AAFC31-B832-4BF1-B059-70054D1400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561D12-50BE-4FF9-957D-5A61FFDA85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0FBD4-EC49-4302-9342-57454FC6B2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E01B02-CFB9-4BE7-AFFD-E66651E1C201}" type="datetimeFigureOut">
              <a:rPr lang="en-US" smtClean="0"/>
              <a:t>2/4/2020</a:t>
            </a:fld>
            <a:endParaRPr lang="en-US"/>
          </a:p>
        </p:txBody>
      </p:sp>
      <p:sp>
        <p:nvSpPr>
          <p:cNvPr id="5" name="Footer Placeholder 4">
            <a:extLst>
              <a:ext uri="{FF2B5EF4-FFF2-40B4-BE49-F238E27FC236}">
                <a16:creationId xmlns:a16="http://schemas.microsoft.com/office/drawing/2014/main" id="{DC89B591-E304-4539-84E8-50F8F8580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6072A4-F25A-4550-BEDC-84064985EA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B8275-B259-402B-84A9-4510FAEE6AEF}" type="slidenum">
              <a:rPr lang="en-US" smtClean="0"/>
              <a:t>‹#›</a:t>
            </a:fld>
            <a:endParaRPr lang="en-US"/>
          </a:p>
        </p:txBody>
      </p:sp>
    </p:spTree>
    <p:extLst>
      <p:ext uri="{BB962C8B-B14F-4D97-AF65-F5344CB8AC3E}">
        <p14:creationId xmlns:p14="http://schemas.microsoft.com/office/powerpoint/2010/main" val="3571546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1458A-1DC2-4BD0-80E7-B5B1D2F0350F}"/>
              </a:ext>
            </a:extLst>
          </p:cNvPr>
          <p:cNvSpPr>
            <a:spLocks noGrp="1"/>
          </p:cNvSpPr>
          <p:nvPr>
            <p:ph type="ctrTitle"/>
          </p:nvPr>
        </p:nvSpPr>
        <p:spPr/>
        <p:txBody>
          <a:bodyPr>
            <a:normAutofit/>
          </a:bodyPr>
          <a:lstStyle/>
          <a:p>
            <a:r>
              <a:rPr lang="en-US" dirty="0"/>
              <a:t>Develop Python pipeline:</a:t>
            </a:r>
            <a:br>
              <a:rPr lang="en-US" dirty="0"/>
            </a:br>
            <a:r>
              <a:rPr lang="en-US" dirty="0"/>
              <a:t>Decorator</a:t>
            </a:r>
          </a:p>
        </p:txBody>
      </p:sp>
      <p:sp>
        <p:nvSpPr>
          <p:cNvPr id="3" name="Subtitle 2">
            <a:extLst>
              <a:ext uri="{FF2B5EF4-FFF2-40B4-BE49-F238E27FC236}">
                <a16:creationId xmlns:a16="http://schemas.microsoft.com/office/drawing/2014/main" id="{5930F043-6162-49F5-A5C0-1CA1BC2BE72D}"/>
              </a:ext>
            </a:extLst>
          </p:cNvPr>
          <p:cNvSpPr>
            <a:spLocks noGrp="1"/>
          </p:cNvSpPr>
          <p:nvPr>
            <p:ph type="subTitle" idx="1"/>
          </p:nvPr>
        </p:nvSpPr>
        <p:spPr>
          <a:xfrm>
            <a:off x="1524000" y="4235116"/>
            <a:ext cx="9144000" cy="1022684"/>
          </a:xfrm>
        </p:spPr>
        <p:txBody>
          <a:bodyPr/>
          <a:lstStyle/>
          <a:p>
            <a:r>
              <a:rPr lang="en-US" dirty="0"/>
              <a:t>Tiezheng Yuan</a:t>
            </a:r>
          </a:p>
          <a:p>
            <a:r>
              <a:rPr lang="en-US" dirty="0"/>
              <a:t>Feb 04, 2020</a:t>
            </a:r>
          </a:p>
        </p:txBody>
      </p:sp>
    </p:spTree>
    <p:extLst>
      <p:ext uri="{BB962C8B-B14F-4D97-AF65-F5344CB8AC3E}">
        <p14:creationId xmlns:p14="http://schemas.microsoft.com/office/powerpoint/2010/main" val="280559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BEF9-398D-40DC-8C97-248AEB2CE52A}"/>
              </a:ext>
            </a:extLst>
          </p:cNvPr>
          <p:cNvSpPr>
            <a:spLocks noGrp="1"/>
          </p:cNvSpPr>
          <p:nvPr>
            <p:ph type="title"/>
          </p:nvPr>
        </p:nvSpPr>
        <p:spPr/>
        <p:txBody>
          <a:bodyPr/>
          <a:lstStyle/>
          <a:p>
            <a:pPr algn="ctr"/>
            <a:r>
              <a:rPr lang="en-US" dirty="0"/>
              <a:t>Decorator</a:t>
            </a:r>
          </a:p>
        </p:txBody>
      </p:sp>
      <p:sp>
        <p:nvSpPr>
          <p:cNvPr id="3" name="Content Placeholder 2">
            <a:extLst>
              <a:ext uri="{FF2B5EF4-FFF2-40B4-BE49-F238E27FC236}">
                <a16:creationId xmlns:a16="http://schemas.microsoft.com/office/drawing/2014/main" id="{D042904E-5B2A-42E8-8042-C4F9429711E6}"/>
              </a:ext>
            </a:extLst>
          </p:cNvPr>
          <p:cNvSpPr>
            <a:spLocks noGrp="1"/>
          </p:cNvSpPr>
          <p:nvPr>
            <p:ph idx="1"/>
          </p:nvPr>
        </p:nvSpPr>
        <p:spPr/>
        <p:txBody>
          <a:bodyPr>
            <a:normAutofit/>
          </a:bodyPr>
          <a:lstStyle/>
          <a:p>
            <a:r>
              <a:rPr lang="en-US" sz="3200" dirty="0"/>
              <a:t>Decorator is a specific change to the function of an object.</a:t>
            </a:r>
          </a:p>
          <a:p>
            <a:r>
              <a:rPr lang="en-US" sz="3200" dirty="0"/>
              <a:t>Decorator is used for functional extension</a:t>
            </a:r>
            <a:br>
              <a:rPr lang="en-US" sz="3200" dirty="0"/>
            </a:br>
            <a:r>
              <a:rPr lang="en-US" sz="3200" dirty="0"/>
              <a:t>Decorators alter the functionality of the function,  method or class without having to directly use subclasses or change the source code of the function being decorated. </a:t>
            </a:r>
          </a:p>
          <a:p>
            <a:r>
              <a:rPr lang="en-US" sz="3200" dirty="0"/>
              <a:t>Decorators could be used before or after an object. </a:t>
            </a:r>
          </a:p>
          <a:p>
            <a:r>
              <a:rPr lang="en-US" sz="3200" dirty="0"/>
              <a:t>Decorators in Python reflect functional programming, a little differing from object-oriented programming.</a:t>
            </a:r>
          </a:p>
        </p:txBody>
      </p:sp>
    </p:spTree>
    <p:extLst>
      <p:ext uri="{BB962C8B-B14F-4D97-AF65-F5344CB8AC3E}">
        <p14:creationId xmlns:p14="http://schemas.microsoft.com/office/powerpoint/2010/main" val="21564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6535-93C0-4046-98E8-5150C845F73C}"/>
              </a:ext>
            </a:extLst>
          </p:cNvPr>
          <p:cNvSpPr>
            <a:spLocks noGrp="1"/>
          </p:cNvSpPr>
          <p:nvPr>
            <p:ph type="title"/>
          </p:nvPr>
        </p:nvSpPr>
        <p:spPr>
          <a:xfrm>
            <a:off x="154055" y="506895"/>
            <a:ext cx="4000502" cy="3448879"/>
          </a:xfrm>
        </p:spPr>
        <p:txBody>
          <a:bodyPr>
            <a:normAutofit/>
          </a:bodyPr>
          <a:lstStyle/>
          <a:p>
            <a:r>
              <a:rPr lang="en-US" dirty="0"/>
              <a:t>Usage 1: Pass an object as an argument to another function</a:t>
            </a:r>
          </a:p>
        </p:txBody>
      </p:sp>
      <p:sp>
        <p:nvSpPr>
          <p:cNvPr id="4" name="Rectangle 3">
            <a:extLst>
              <a:ext uri="{FF2B5EF4-FFF2-40B4-BE49-F238E27FC236}">
                <a16:creationId xmlns:a16="http://schemas.microsoft.com/office/drawing/2014/main" id="{D5B7F8BF-4C7C-44F7-A682-45184C47D4BC}"/>
              </a:ext>
            </a:extLst>
          </p:cNvPr>
          <p:cNvSpPr/>
          <p:nvPr/>
        </p:nvSpPr>
        <p:spPr>
          <a:xfrm>
            <a:off x="5440015" y="597603"/>
            <a:ext cx="5771324" cy="5693866"/>
          </a:xfrm>
          <a:prstGeom prst="rect">
            <a:avLst/>
          </a:prstGeom>
          <a:ln>
            <a:solidFill>
              <a:schemeClr val="accent1"/>
            </a:solidFill>
          </a:ln>
        </p:spPr>
        <p:txBody>
          <a:bodyPr wrap="square">
            <a:spAutoFit/>
          </a:bodyPr>
          <a:lstStyle/>
          <a:p>
            <a:r>
              <a:rPr lang="en-US" sz="2800" dirty="0"/>
              <a:t>class test:</a:t>
            </a:r>
          </a:p>
          <a:p>
            <a:r>
              <a:rPr lang="en-US" sz="2800" dirty="0"/>
              <a:t>    def </a:t>
            </a:r>
            <a:r>
              <a:rPr lang="en-US" sz="2800" dirty="0" err="1"/>
              <a:t>printDone</a:t>
            </a:r>
            <a:r>
              <a:rPr lang="en-US" sz="2800" dirty="0"/>
              <a:t>(self):</a:t>
            </a:r>
          </a:p>
          <a:p>
            <a:r>
              <a:rPr lang="en-US" sz="2800" dirty="0"/>
              <a:t>        return ("Greet! It is done.")</a:t>
            </a:r>
          </a:p>
          <a:p>
            <a:endParaRPr lang="en-US" sz="2800" dirty="0"/>
          </a:p>
          <a:p>
            <a:r>
              <a:rPr lang="en-US" sz="2800" dirty="0"/>
              <a:t>class DNA(test):</a:t>
            </a:r>
          </a:p>
          <a:p>
            <a:r>
              <a:rPr lang="en-US" sz="2800" dirty="0"/>
              <a:t>    def </a:t>
            </a:r>
            <a:r>
              <a:rPr lang="en-US" sz="2800" dirty="0" err="1"/>
              <a:t>printTest</a:t>
            </a:r>
            <a:r>
              <a:rPr lang="en-US" sz="2800" dirty="0"/>
              <a:t>(self, </a:t>
            </a:r>
            <a:r>
              <a:rPr lang="en-US" sz="2800" dirty="0" err="1"/>
              <a:t>func</a:t>
            </a:r>
            <a:r>
              <a:rPr lang="en-US" sz="2800" dirty="0"/>
              <a:t>):</a:t>
            </a:r>
          </a:p>
          <a:p>
            <a:r>
              <a:rPr lang="en-US" sz="2800" dirty="0"/>
              <a:t>        print("This is DNA test")</a:t>
            </a:r>
          </a:p>
          <a:p>
            <a:r>
              <a:rPr lang="en-US" sz="2800" dirty="0"/>
              <a:t>        print(</a:t>
            </a:r>
            <a:r>
              <a:rPr lang="en-US" sz="2800" dirty="0" err="1"/>
              <a:t>func</a:t>
            </a:r>
            <a:r>
              <a:rPr lang="en-US" sz="2800" dirty="0"/>
              <a:t>())</a:t>
            </a:r>
          </a:p>
          <a:p>
            <a:endParaRPr lang="en-US" sz="2800" dirty="0"/>
          </a:p>
          <a:p>
            <a:r>
              <a:rPr lang="en-US" sz="2800" dirty="0"/>
              <a:t>if __name__ == "__main__":</a:t>
            </a:r>
          </a:p>
          <a:p>
            <a:r>
              <a:rPr lang="en-US" sz="2800" dirty="0"/>
              <a:t>    basic = test()</a:t>
            </a:r>
          </a:p>
          <a:p>
            <a:r>
              <a:rPr lang="en-US" sz="2800" dirty="0"/>
              <a:t>    my = DNA()</a:t>
            </a:r>
          </a:p>
          <a:p>
            <a:r>
              <a:rPr lang="en-US" sz="2800" dirty="0"/>
              <a:t>    </a:t>
            </a:r>
            <a:r>
              <a:rPr lang="en-US" sz="2800" dirty="0" err="1"/>
              <a:t>my.printTest</a:t>
            </a:r>
            <a:r>
              <a:rPr lang="en-US" sz="2800" dirty="0"/>
              <a:t>(</a:t>
            </a:r>
            <a:r>
              <a:rPr lang="en-US" sz="2800" dirty="0" err="1"/>
              <a:t>basic.printDone</a:t>
            </a:r>
            <a:r>
              <a:rPr lang="en-US" sz="2800" dirty="0"/>
              <a:t>)</a:t>
            </a:r>
          </a:p>
        </p:txBody>
      </p:sp>
      <p:pic>
        <p:nvPicPr>
          <p:cNvPr id="3" name="Picture 2">
            <a:extLst>
              <a:ext uri="{FF2B5EF4-FFF2-40B4-BE49-F238E27FC236}">
                <a16:creationId xmlns:a16="http://schemas.microsoft.com/office/drawing/2014/main" id="{1564CBD9-A793-4E51-8384-1F86B0DE481D}"/>
              </a:ext>
            </a:extLst>
          </p:cNvPr>
          <p:cNvPicPr>
            <a:picLocks noChangeAspect="1"/>
          </p:cNvPicPr>
          <p:nvPr/>
        </p:nvPicPr>
        <p:blipFill rotWithShape="1">
          <a:blip r:embed="rId3"/>
          <a:srcRect l="1263" t="57685" r="64130" b="20856"/>
          <a:stretch/>
        </p:blipFill>
        <p:spPr>
          <a:xfrm>
            <a:off x="154055" y="4371962"/>
            <a:ext cx="5416494" cy="1888435"/>
          </a:xfrm>
          <a:prstGeom prst="rect">
            <a:avLst/>
          </a:prstGeom>
        </p:spPr>
      </p:pic>
    </p:spTree>
    <p:extLst>
      <p:ext uri="{BB962C8B-B14F-4D97-AF65-F5344CB8AC3E}">
        <p14:creationId xmlns:p14="http://schemas.microsoft.com/office/powerpoint/2010/main" val="2026385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6535-93C0-4046-98E8-5150C845F73C}"/>
              </a:ext>
            </a:extLst>
          </p:cNvPr>
          <p:cNvSpPr>
            <a:spLocks noGrp="1"/>
          </p:cNvSpPr>
          <p:nvPr>
            <p:ph type="title"/>
          </p:nvPr>
        </p:nvSpPr>
        <p:spPr>
          <a:xfrm>
            <a:off x="154055" y="506895"/>
            <a:ext cx="4000502" cy="3448879"/>
          </a:xfrm>
        </p:spPr>
        <p:txBody>
          <a:bodyPr>
            <a:normAutofit/>
          </a:bodyPr>
          <a:lstStyle/>
          <a:p>
            <a:r>
              <a:rPr lang="en-US" dirty="0"/>
              <a:t>Usage 2: Return functions within a function</a:t>
            </a:r>
          </a:p>
        </p:txBody>
      </p:sp>
      <p:sp>
        <p:nvSpPr>
          <p:cNvPr id="4" name="Rectangle 3">
            <a:extLst>
              <a:ext uri="{FF2B5EF4-FFF2-40B4-BE49-F238E27FC236}">
                <a16:creationId xmlns:a16="http://schemas.microsoft.com/office/drawing/2014/main" id="{D5B7F8BF-4C7C-44F7-A682-45184C47D4BC}"/>
              </a:ext>
            </a:extLst>
          </p:cNvPr>
          <p:cNvSpPr/>
          <p:nvPr/>
        </p:nvSpPr>
        <p:spPr>
          <a:xfrm>
            <a:off x="5618920" y="140403"/>
            <a:ext cx="5771324" cy="6247864"/>
          </a:xfrm>
          <a:prstGeom prst="rect">
            <a:avLst/>
          </a:prstGeom>
          <a:ln>
            <a:solidFill>
              <a:schemeClr val="accent1"/>
            </a:solidFill>
          </a:ln>
        </p:spPr>
        <p:txBody>
          <a:bodyPr wrap="square">
            <a:spAutoFit/>
          </a:bodyPr>
          <a:lstStyle/>
          <a:p>
            <a:r>
              <a:rPr lang="en-US" sz="2000" dirty="0"/>
              <a:t>class rate:</a:t>
            </a:r>
          </a:p>
          <a:p>
            <a:r>
              <a:rPr lang="en-US" sz="2000" dirty="0"/>
              <a:t>    def __</a:t>
            </a:r>
            <a:r>
              <a:rPr lang="en-US" sz="2000" dirty="0" err="1"/>
              <a:t>init</a:t>
            </a:r>
            <a:r>
              <a:rPr lang="en-US" sz="2000" dirty="0"/>
              <a:t>__(self, counts):</a:t>
            </a:r>
          </a:p>
          <a:p>
            <a:r>
              <a:rPr lang="en-US" sz="2000" dirty="0"/>
              <a:t>        </a:t>
            </a:r>
            <a:r>
              <a:rPr lang="en-US" sz="2000" dirty="0" err="1"/>
              <a:t>self.counts</a:t>
            </a:r>
            <a:r>
              <a:rPr lang="en-US" sz="2000" dirty="0"/>
              <a:t>=counts</a:t>
            </a:r>
          </a:p>
          <a:p>
            <a:r>
              <a:rPr lang="en-US" sz="2000" dirty="0"/>
              <a:t>        </a:t>
            </a:r>
          </a:p>
          <a:p>
            <a:r>
              <a:rPr lang="en-US" sz="2000" dirty="0"/>
              <a:t>    def </a:t>
            </a:r>
            <a:r>
              <a:rPr lang="en-US" sz="2000" dirty="0" err="1"/>
              <a:t>GenericRate</a:t>
            </a:r>
            <a:r>
              <a:rPr lang="en-US" sz="2000" dirty="0"/>
              <a:t>(self):</a:t>
            </a:r>
          </a:p>
          <a:p>
            <a:r>
              <a:rPr lang="en-US" sz="2000" dirty="0"/>
              <a:t>        return </a:t>
            </a:r>
            <a:r>
              <a:rPr lang="en-US" sz="2000" dirty="0" err="1"/>
              <a:t>self.counts</a:t>
            </a:r>
            <a:r>
              <a:rPr lang="en-US" sz="2000" dirty="0"/>
              <a:t>*0.5+40</a:t>
            </a:r>
          </a:p>
          <a:p>
            <a:endParaRPr lang="en-US" sz="2000" dirty="0"/>
          </a:p>
          <a:p>
            <a:r>
              <a:rPr lang="en-US" sz="2000" dirty="0"/>
              <a:t>    def </a:t>
            </a:r>
            <a:r>
              <a:rPr lang="en-US" sz="2000" dirty="0" err="1"/>
              <a:t>DiscountRate</a:t>
            </a:r>
            <a:r>
              <a:rPr lang="en-US" sz="2000" dirty="0"/>
              <a:t>(self):</a:t>
            </a:r>
          </a:p>
          <a:p>
            <a:r>
              <a:rPr lang="en-US" sz="2000" dirty="0"/>
              <a:t>        return </a:t>
            </a:r>
            <a:r>
              <a:rPr lang="en-US" sz="2000" dirty="0" err="1"/>
              <a:t>self.counts</a:t>
            </a:r>
            <a:r>
              <a:rPr lang="en-US" sz="2000" dirty="0"/>
              <a:t>*0.45+20</a:t>
            </a:r>
          </a:p>
          <a:p>
            <a:r>
              <a:rPr lang="en-US" sz="2000" dirty="0"/>
              <a:t>#</a:t>
            </a:r>
          </a:p>
          <a:p>
            <a:r>
              <a:rPr lang="en-US" sz="2000" dirty="0"/>
              <a:t>def </a:t>
            </a:r>
            <a:r>
              <a:rPr lang="en-US" sz="2000" dirty="0" err="1"/>
              <a:t>calcRate</a:t>
            </a:r>
            <a:r>
              <a:rPr lang="en-US" sz="2000" dirty="0"/>
              <a:t>(counts):</a:t>
            </a:r>
          </a:p>
          <a:p>
            <a:r>
              <a:rPr lang="en-US" sz="2000" dirty="0"/>
              <a:t>    print("The total balance of ", counts)</a:t>
            </a:r>
          </a:p>
          <a:p>
            <a:r>
              <a:rPr lang="en-US" sz="2000" dirty="0"/>
              <a:t>    if (counts&lt;100):</a:t>
            </a:r>
          </a:p>
          <a:p>
            <a:r>
              <a:rPr lang="en-US" sz="2000" dirty="0"/>
              <a:t>        return rate(counts).</a:t>
            </a:r>
            <a:r>
              <a:rPr lang="en-US" sz="2000" dirty="0" err="1"/>
              <a:t>GenericRate</a:t>
            </a:r>
            <a:r>
              <a:rPr lang="en-US" sz="2000" dirty="0"/>
              <a:t>()</a:t>
            </a:r>
          </a:p>
          <a:p>
            <a:r>
              <a:rPr lang="en-US" sz="2000" dirty="0"/>
              <a:t>    else:</a:t>
            </a:r>
          </a:p>
          <a:p>
            <a:r>
              <a:rPr lang="en-US" sz="2000" dirty="0"/>
              <a:t>        return rate(counts).</a:t>
            </a:r>
            <a:r>
              <a:rPr lang="en-US" sz="2000" dirty="0" err="1"/>
              <a:t>DiscountRate</a:t>
            </a:r>
            <a:r>
              <a:rPr lang="en-US" sz="2000" dirty="0"/>
              <a:t>()</a:t>
            </a:r>
          </a:p>
          <a:p>
            <a:endParaRPr lang="en-US" sz="2000" dirty="0"/>
          </a:p>
          <a:p>
            <a:r>
              <a:rPr lang="en-US" sz="2000" dirty="0"/>
              <a:t>if __name__ == "__main__":</a:t>
            </a:r>
          </a:p>
          <a:p>
            <a:r>
              <a:rPr lang="en-US" sz="2000" b="1" dirty="0"/>
              <a:t>    print(</a:t>
            </a:r>
            <a:r>
              <a:rPr lang="en-US" sz="2000" b="1" dirty="0" err="1"/>
              <a:t>calcRate</a:t>
            </a:r>
            <a:r>
              <a:rPr lang="en-US" sz="2000" b="1" dirty="0"/>
              <a:t>(20))</a:t>
            </a:r>
          </a:p>
          <a:p>
            <a:r>
              <a:rPr lang="en-US" sz="2000" b="1" dirty="0"/>
              <a:t>    print(</a:t>
            </a:r>
            <a:r>
              <a:rPr lang="en-US" sz="2000" b="1" dirty="0" err="1"/>
              <a:t>calcRate</a:t>
            </a:r>
            <a:r>
              <a:rPr lang="en-US" sz="2000" b="1" dirty="0"/>
              <a:t>(120))</a:t>
            </a:r>
          </a:p>
        </p:txBody>
      </p:sp>
      <p:pic>
        <p:nvPicPr>
          <p:cNvPr id="5" name="Picture 4">
            <a:extLst>
              <a:ext uri="{FF2B5EF4-FFF2-40B4-BE49-F238E27FC236}">
                <a16:creationId xmlns:a16="http://schemas.microsoft.com/office/drawing/2014/main" id="{15F325F9-E979-4951-B5D8-94B2CF25A6BA}"/>
              </a:ext>
            </a:extLst>
          </p:cNvPr>
          <p:cNvPicPr>
            <a:picLocks noChangeAspect="1"/>
          </p:cNvPicPr>
          <p:nvPr/>
        </p:nvPicPr>
        <p:blipFill rotWithShape="1">
          <a:blip r:embed="rId3"/>
          <a:srcRect l="1264" t="57685" r="65924" b="22886"/>
          <a:stretch/>
        </p:blipFill>
        <p:spPr>
          <a:xfrm>
            <a:off x="154054" y="3955774"/>
            <a:ext cx="5493229" cy="1828800"/>
          </a:xfrm>
          <a:prstGeom prst="rect">
            <a:avLst/>
          </a:prstGeom>
        </p:spPr>
      </p:pic>
    </p:spTree>
    <p:extLst>
      <p:ext uri="{BB962C8B-B14F-4D97-AF65-F5344CB8AC3E}">
        <p14:creationId xmlns:p14="http://schemas.microsoft.com/office/powerpoint/2010/main" val="1560546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6535-93C0-4046-98E8-5150C845F73C}"/>
              </a:ext>
            </a:extLst>
          </p:cNvPr>
          <p:cNvSpPr>
            <a:spLocks noGrp="1"/>
          </p:cNvSpPr>
          <p:nvPr>
            <p:ph type="title"/>
          </p:nvPr>
        </p:nvSpPr>
        <p:spPr>
          <a:xfrm>
            <a:off x="154055" y="506895"/>
            <a:ext cx="4000502" cy="3448879"/>
          </a:xfrm>
        </p:spPr>
        <p:txBody>
          <a:bodyPr>
            <a:normAutofit/>
          </a:bodyPr>
          <a:lstStyle/>
          <a:p>
            <a:r>
              <a:rPr lang="en-US" dirty="0"/>
              <a:t>Usage 3: Embed functions in one function</a:t>
            </a:r>
          </a:p>
        </p:txBody>
      </p:sp>
      <p:sp>
        <p:nvSpPr>
          <p:cNvPr id="4" name="Rectangle 3">
            <a:extLst>
              <a:ext uri="{FF2B5EF4-FFF2-40B4-BE49-F238E27FC236}">
                <a16:creationId xmlns:a16="http://schemas.microsoft.com/office/drawing/2014/main" id="{D5B7F8BF-4C7C-44F7-A682-45184C47D4BC}"/>
              </a:ext>
            </a:extLst>
          </p:cNvPr>
          <p:cNvSpPr/>
          <p:nvPr/>
        </p:nvSpPr>
        <p:spPr>
          <a:xfrm>
            <a:off x="5738190" y="1074509"/>
            <a:ext cx="5771324" cy="4708981"/>
          </a:xfrm>
          <a:prstGeom prst="rect">
            <a:avLst/>
          </a:prstGeom>
          <a:ln>
            <a:solidFill>
              <a:schemeClr val="accent1"/>
            </a:solidFill>
          </a:ln>
        </p:spPr>
        <p:txBody>
          <a:bodyPr wrap="square">
            <a:spAutoFit/>
          </a:bodyPr>
          <a:lstStyle/>
          <a:p>
            <a:r>
              <a:rPr lang="en-US" sz="2000" dirty="0"/>
              <a:t>class test:</a:t>
            </a:r>
          </a:p>
          <a:p>
            <a:r>
              <a:rPr lang="en-US" sz="2000" dirty="0"/>
              <a:t>    def __</a:t>
            </a:r>
            <a:r>
              <a:rPr lang="en-US" sz="2000" dirty="0" err="1"/>
              <a:t>init</a:t>
            </a:r>
            <a:r>
              <a:rPr lang="en-US" sz="2000" dirty="0"/>
              <a:t>__(self, counts):</a:t>
            </a:r>
          </a:p>
          <a:p>
            <a:r>
              <a:rPr lang="en-US" sz="2000" dirty="0"/>
              <a:t>        </a:t>
            </a:r>
            <a:r>
              <a:rPr lang="en-US" sz="2000" dirty="0" err="1"/>
              <a:t>self.counts</a:t>
            </a:r>
            <a:r>
              <a:rPr lang="en-US" sz="2000" dirty="0"/>
              <a:t>=counts</a:t>
            </a:r>
          </a:p>
          <a:p>
            <a:r>
              <a:rPr lang="en-US" sz="2000" dirty="0"/>
              <a:t>        </a:t>
            </a:r>
          </a:p>
          <a:p>
            <a:r>
              <a:rPr lang="en-US" sz="2000" dirty="0"/>
              <a:t>    def </a:t>
            </a:r>
            <a:r>
              <a:rPr lang="en-US" sz="2000" dirty="0" err="1"/>
              <a:t>calcRate</a:t>
            </a:r>
            <a:r>
              <a:rPr lang="en-US" sz="2000" dirty="0"/>
              <a:t>(self):</a:t>
            </a:r>
          </a:p>
          <a:p>
            <a:r>
              <a:rPr lang="en-US" sz="2000" dirty="0"/>
              <a:t>        ##embed a function</a:t>
            </a:r>
          </a:p>
          <a:p>
            <a:r>
              <a:rPr lang="en-US" sz="2000" dirty="0"/>
              <a:t>        def </a:t>
            </a:r>
            <a:r>
              <a:rPr lang="en-US" sz="2000" dirty="0" err="1"/>
              <a:t>convertCounts</a:t>
            </a:r>
            <a:r>
              <a:rPr lang="en-US" sz="2000" dirty="0"/>
              <a:t>(counts):</a:t>
            </a:r>
          </a:p>
          <a:p>
            <a:r>
              <a:rPr lang="en-US" sz="2000" dirty="0"/>
              <a:t>            return counts*3</a:t>
            </a:r>
          </a:p>
          <a:p>
            <a:r>
              <a:rPr lang="en-US" sz="2000" dirty="0"/>
              <a:t>        #calculate rate</a:t>
            </a:r>
          </a:p>
          <a:p>
            <a:r>
              <a:rPr lang="en-US" sz="2000" dirty="0"/>
              <a:t>        rate=</a:t>
            </a:r>
            <a:r>
              <a:rPr lang="en-US" sz="2000" dirty="0" err="1"/>
              <a:t>convertCounts</a:t>
            </a:r>
            <a:r>
              <a:rPr lang="en-US" sz="2000" dirty="0"/>
              <a:t>(</a:t>
            </a:r>
            <a:r>
              <a:rPr lang="en-US" sz="2000" dirty="0" err="1"/>
              <a:t>self.counts</a:t>
            </a:r>
            <a:r>
              <a:rPr lang="en-US" sz="2000" dirty="0"/>
              <a:t>)+10</a:t>
            </a:r>
          </a:p>
          <a:p>
            <a:r>
              <a:rPr lang="en-US" sz="2000" dirty="0"/>
              <a:t>        return rate</a:t>
            </a:r>
          </a:p>
          <a:p>
            <a:r>
              <a:rPr lang="en-US" sz="2000" dirty="0"/>
              <a:t>    </a:t>
            </a:r>
          </a:p>
          <a:p>
            <a:endParaRPr lang="en-US" sz="2000" dirty="0"/>
          </a:p>
          <a:p>
            <a:r>
              <a:rPr lang="en-US" sz="2000" dirty="0"/>
              <a:t>if __name__ == "__main__":</a:t>
            </a:r>
          </a:p>
          <a:p>
            <a:r>
              <a:rPr lang="en-US" sz="2000" dirty="0"/>
              <a:t>    print(test(30).</a:t>
            </a:r>
            <a:r>
              <a:rPr lang="en-US" sz="2000" dirty="0" err="1"/>
              <a:t>calcRate</a:t>
            </a:r>
            <a:r>
              <a:rPr lang="en-US" sz="2000" dirty="0"/>
              <a:t>())</a:t>
            </a:r>
            <a:endParaRPr lang="en-US" sz="2000" b="1" dirty="0"/>
          </a:p>
        </p:txBody>
      </p:sp>
    </p:spTree>
    <p:extLst>
      <p:ext uri="{BB962C8B-B14F-4D97-AF65-F5344CB8AC3E}">
        <p14:creationId xmlns:p14="http://schemas.microsoft.com/office/powerpoint/2010/main" val="749916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466-D4A9-45DA-A541-B54A92746D38}"/>
              </a:ext>
            </a:extLst>
          </p:cNvPr>
          <p:cNvSpPr>
            <a:spLocks noGrp="1"/>
          </p:cNvSpPr>
          <p:nvPr>
            <p:ph type="title"/>
          </p:nvPr>
        </p:nvSpPr>
        <p:spPr/>
        <p:txBody>
          <a:bodyPr/>
          <a:lstStyle/>
          <a:p>
            <a:r>
              <a:rPr lang="en-US" dirty="0"/>
              <a:t>When decorators are used?</a:t>
            </a:r>
          </a:p>
        </p:txBody>
      </p:sp>
      <p:sp>
        <p:nvSpPr>
          <p:cNvPr id="3" name="Content Placeholder 2">
            <a:extLst>
              <a:ext uri="{FF2B5EF4-FFF2-40B4-BE49-F238E27FC236}">
                <a16:creationId xmlns:a16="http://schemas.microsoft.com/office/drawing/2014/main" id="{2A9BE625-58DA-4CAF-9AC0-C39BFBBAE191}"/>
              </a:ext>
            </a:extLst>
          </p:cNvPr>
          <p:cNvSpPr>
            <a:spLocks noGrp="1"/>
          </p:cNvSpPr>
          <p:nvPr>
            <p:ph idx="1"/>
          </p:nvPr>
        </p:nvSpPr>
        <p:spPr/>
        <p:txBody>
          <a:bodyPr>
            <a:normAutofit lnSpcReduction="10000"/>
          </a:bodyPr>
          <a:lstStyle/>
          <a:p>
            <a:r>
              <a:rPr lang="en-US" sz="3200" dirty="0"/>
              <a:t>Decorator in Python is close to the polymorphism in OOP programming.</a:t>
            </a:r>
            <a:br>
              <a:rPr lang="en-US" sz="3200" dirty="0"/>
            </a:br>
            <a:r>
              <a:rPr lang="en-US" sz="3200" b="1" dirty="0"/>
              <a:t>1. Pass additional arguments to a function: extend a function</a:t>
            </a:r>
            <a:br>
              <a:rPr lang="en-US" sz="3200" b="1" dirty="0"/>
            </a:br>
            <a:r>
              <a:rPr lang="en-US" sz="3200" dirty="0"/>
              <a:t>2. Encapsulate some functionalities: developer vs. callers</a:t>
            </a:r>
            <a:br>
              <a:rPr lang="en-US" sz="3200" dirty="0"/>
            </a:br>
            <a:r>
              <a:rPr lang="en-US" sz="3200" dirty="0"/>
              <a:t>3. Reuse Python code, and make code more succinct.</a:t>
            </a:r>
            <a:br>
              <a:rPr lang="en-US" sz="3200" dirty="0"/>
            </a:br>
            <a:r>
              <a:rPr lang="en-US" sz="3200" dirty="0"/>
              <a:t>4. Test some tentative changes in SDLC, especially in a large Python project.</a:t>
            </a:r>
            <a:br>
              <a:rPr lang="en-US" sz="3200" dirty="0"/>
            </a:br>
            <a:r>
              <a:rPr lang="en-US" sz="3200" dirty="0"/>
              <a:t>5. Optimize Python script execution for complex data structure: int, float, string.</a:t>
            </a:r>
          </a:p>
        </p:txBody>
      </p:sp>
    </p:spTree>
    <p:extLst>
      <p:ext uri="{BB962C8B-B14F-4D97-AF65-F5344CB8AC3E}">
        <p14:creationId xmlns:p14="http://schemas.microsoft.com/office/powerpoint/2010/main" val="1700792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0ED-B4B6-4EB6-ADCB-DC4DD76142F2}"/>
              </a:ext>
            </a:extLst>
          </p:cNvPr>
          <p:cNvSpPr>
            <a:spLocks noGrp="1"/>
          </p:cNvSpPr>
          <p:nvPr>
            <p:ph type="title"/>
          </p:nvPr>
        </p:nvSpPr>
        <p:spPr/>
        <p:txBody>
          <a:bodyPr/>
          <a:lstStyle/>
          <a:p>
            <a:pPr algn="ctr"/>
            <a:r>
              <a:rPr lang="en-US" dirty="0"/>
              <a:t>Notes of decorators </a:t>
            </a:r>
          </a:p>
        </p:txBody>
      </p:sp>
      <p:sp>
        <p:nvSpPr>
          <p:cNvPr id="3" name="Content Placeholder 2">
            <a:extLst>
              <a:ext uri="{FF2B5EF4-FFF2-40B4-BE49-F238E27FC236}">
                <a16:creationId xmlns:a16="http://schemas.microsoft.com/office/drawing/2014/main" id="{59B4E786-B38F-41DE-AB2F-00E563FF427B}"/>
              </a:ext>
            </a:extLst>
          </p:cNvPr>
          <p:cNvSpPr>
            <a:spLocks noGrp="1"/>
          </p:cNvSpPr>
          <p:nvPr>
            <p:ph idx="1"/>
          </p:nvPr>
        </p:nvSpPr>
        <p:spPr>
          <a:xfrm>
            <a:off x="838200" y="1825625"/>
            <a:ext cx="10515600" cy="4667250"/>
          </a:xfrm>
        </p:spPr>
        <p:txBody>
          <a:bodyPr>
            <a:normAutofit lnSpcReduction="10000"/>
          </a:bodyPr>
          <a:lstStyle/>
          <a:p>
            <a:r>
              <a:rPr lang="en-US" sz="3200" b="1" dirty="0"/>
              <a:t>Avoid decorators chain.</a:t>
            </a:r>
            <a:r>
              <a:rPr lang="en-US" sz="3200" dirty="0"/>
              <a:t>  </a:t>
            </a:r>
            <a:br>
              <a:rPr lang="en-US" sz="3200" dirty="0"/>
            </a:br>
            <a:r>
              <a:rPr lang="en-US" sz="3200" dirty="0"/>
              <a:t>Too many decorators in Python may ruin OOP class architecture. Developers might be lost in decorators chain. If so, you might as well re-design the class diagram</a:t>
            </a:r>
          </a:p>
          <a:p>
            <a:r>
              <a:rPr lang="en-US" sz="3200" b="1" dirty="0"/>
              <a:t>Decorators may make code unreadable.</a:t>
            </a:r>
            <a:br>
              <a:rPr lang="en-US" sz="3200" b="1" dirty="0"/>
            </a:br>
            <a:r>
              <a:rPr lang="en-US" sz="3200" dirty="0"/>
              <a:t>Developers are forced to leap among different functions in order to come up with </a:t>
            </a:r>
            <a:r>
              <a:rPr lang="en-US" sz="3200"/>
              <a:t>a particular function.</a:t>
            </a:r>
            <a:endParaRPr lang="en-US" sz="3200" dirty="0"/>
          </a:p>
          <a:p>
            <a:r>
              <a:rPr lang="en-US" sz="3200" b="1" dirty="0"/>
              <a:t>Set proper checkpoint or error handling.</a:t>
            </a:r>
            <a:br>
              <a:rPr lang="en-US" sz="3200" b="1" dirty="0"/>
            </a:br>
            <a:r>
              <a:rPr lang="en-US" sz="3200" dirty="0"/>
              <a:t>Code execution is transact among different python code when decorators are executed. </a:t>
            </a:r>
          </a:p>
          <a:p>
            <a:endParaRPr lang="en-US" sz="3200" dirty="0"/>
          </a:p>
          <a:p>
            <a:endParaRPr lang="en-US" sz="3200" dirty="0"/>
          </a:p>
        </p:txBody>
      </p:sp>
    </p:spTree>
    <p:extLst>
      <p:ext uri="{BB962C8B-B14F-4D97-AF65-F5344CB8AC3E}">
        <p14:creationId xmlns:p14="http://schemas.microsoft.com/office/powerpoint/2010/main" val="3556364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971</TotalTime>
  <Words>758</Words>
  <Application>Microsoft Office PowerPoint</Application>
  <PresentationFormat>Widescreen</PresentationFormat>
  <Paragraphs>79</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Develop Python pipeline: Decorator</vt:lpstr>
      <vt:lpstr>Decorator</vt:lpstr>
      <vt:lpstr>Usage 1: Pass an object as an argument to another function</vt:lpstr>
      <vt:lpstr>Usage 2: Return functions within a function</vt:lpstr>
      <vt:lpstr>Usage 3: Embed functions in one function</vt:lpstr>
      <vt:lpstr>When decorators are used?</vt:lpstr>
      <vt:lpstr>Notes of decorators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Python pipeline: Objects and Classes</dc:title>
  <dc:creator>Tiezheng Yuan</dc:creator>
  <cp:lastModifiedBy>Tiezheng Yuan</cp:lastModifiedBy>
  <cp:revision>50</cp:revision>
  <dcterms:created xsi:type="dcterms:W3CDTF">2020-01-31T22:01:04Z</dcterms:created>
  <dcterms:modified xsi:type="dcterms:W3CDTF">2020-02-04T20:44:44Z</dcterms:modified>
</cp:coreProperties>
</file>